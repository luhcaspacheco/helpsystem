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920240"/>
            <a:ext cx="5029200" cy="5029200"/>
          </a:xfrm>
          <a:prstGeom prst="ellipse">
            <a:avLst/>
          </a:prstGeom>
          <a:solidFill>
            <a:srgbClr val="20345B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97680"/>
            <a:ext cx="4114800" cy="4114800"/>
          </a:xfrm>
          <a:prstGeom prst="ellipse">
            <a:avLst/>
          </a:prstGeom>
          <a:solidFill>
            <a:srgbClr val="20345B"/>
          </a:solidFill>
          <a:ln/>
        </p:spPr>
      </p:sp>
      <p:pic>
        <p:nvPicPr>
          <p:cNvPr id="4" name="Image 0" descr="tela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960120" cy="960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5146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HelpSystem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640080" y="3429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Fórum interno de ajuda — dúvidas e soluções em equipe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640080" y="4114800"/>
            <a:ext cx="2926080" cy="0"/>
          </a:xfrm>
          <a:prstGeom prst="line">
            <a:avLst/>
          </a:prstGeom>
          <a:noFill/>
          <a:ln w="31750">
            <a:solidFill>
              <a:srgbClr val="0176D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4343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 Scrum ·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Specialisterne + Salesforce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5806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Equipe: 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(Scrum Master) · Renato · Sakiri · Felipe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do Projeto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HelpSystem e qual problema ele resolve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806440" cy="457200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B0C9">
                <a:alpha val="3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874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7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desafio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0"/>
            <a:ext cx="51206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HelpSystem é um fórum interno de ajuda. Um colaborador publica uma dúvida ou problema e outros colaboradores respondem, ajudando a resolver — o conhecimento fica registrado para toda a equipe consultar.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publicação tem categoria, prioridade, status e histórico de respostas, permitindo acompanhar o problema do início à solução, com notificações a cada atualização.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766560" y="1600200"/>
            <a:ext cx="4754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B0C9">
                <a:alpha val="3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40880" y="1984248"/>
            <a:ext cx="603504" cy="603504"/>
          </a:xfrm>
          <a:prstGeom prst="ellipse">
            <a:avLst/>
          </a:prstGeom>
          <a:solidFill>
            <a:srgbClr val="0176D3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0" y="19842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818120" y="185623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818120" y="2221992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colaborador abre uma dúvida ou problema com categoria e prioridade.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766560" y="3136392"/>
            <a:ext cx="4754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B0C9">
                <a:alpha val="3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040880" y="3520440"/>
            <a:ext cx="603504" cy="603504"/>
          </a:xfrm>
          <a:prstGeom prst="ellipse">
            <a:avLst/>
          </a:prstGeom>
          <a:solidFill>
            <a:srgbClr val="0176D3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0" y="35204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818120" y="339242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818120" y="3758184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Outros colaboradores respondem e ajudam a resolver.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766560" y="4672584"/>
            <a:ext cx="4754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B0C9">
                <a:alpha val="3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040880" y="5056632"/>
            <a:ext cx="603504" cy="603504"/>
          </a:xfrm>
          <a:prstGeom prst="ellipse">
            <a:avLst/>
          </a:prstGeom>
          <a:solidFill>
            <a:srgbClr val="0176D3"/>
          </a:solidFill>
          <a:ln/>
        </p:spPr>
      </p:sp>
      <p:sp>
        <p:nvSpPr>
          <p:cNvPr id="19" name="Text 17"/>
          <p:cNvSpPr/>
          <p:nvPr/>
        </p:nvSpPr>
        <p:spPr>
          <a:xfrm>
            <a:off x="7040880" y="505663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818120" y="492861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818120" y="5294376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respostas e notificações até a solução.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Utilizadas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Linguagens, frameworks e ambiente de desenvolvimento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493008" cy="2121408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B0C9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18745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176D3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911096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2468880"/>
            <a:ext cx="2898648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8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</a:t>
            </a:r>
            <a:endParaRPr lang="en-US" sz="128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8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3.3</a:t>
            </a:r>
            <a:endParaRPr lang="en-US" sz="128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8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MVC (REST)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493008" cy="2121408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B0C9">
                <a:alpha val="3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81728" y="18745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681728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57800" y="1911096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09160" y="2468880"/>
            <a:ext cx="2898648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8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8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8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 / Hibernate</a:t>
            </a:r>
            <a:endParaRPr lang="en-US" sz="1280" dirty="0"/>
          </a:p>
        </p:txBody>
      </p:sp>
      <p:sp>
        <p:nvSpPr>
          <p:cNvPr id="14" name="Shape 12"/>
          <p:cNvSpPr/>
          <p:nvPr/>
        </p:nvSpPr>
        <p:spPr>
          <a:xfrm>
            <a:off x="8138160" y="1600200"/>
            <a:ext cx="3493008" cy="2121408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B0C9">
                <a:alpha val="3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30768" y="18745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E844A"/>
          </a:solidFill>
          <a:ln/>
        </p:spPr>
      </p:sp>
      <p:sp>
        <p:nvSpPr>
          <p:cNvPr id="16" name="Text 14"/>
          <p:cNvSpPr/>
          <p:nvPr/>
        </p:nvSpPr>
        <p:spPr>
          <a:xfrm>
            <a:off x="8430768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006840" y="1911096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58200" y="2468880"/>
            <a:ext cx="2898648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8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</a:t>
            </a:r>
            <a:endParaRPr lang="en-US" sz="128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8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28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8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1280" dirty="0"/>
          </a:p>
        </p:txBody>
      </p:sp>
      <p:sp>
        <p:nvSpPr>
          <p:cNvPr id="19" name="Shape 17"/>
          <p:cNvSpPr/>
          <p:nvPr/>
        </p:nvSpPr>
        <p:spPr>
          <a:xfrm>
            <a:off x="640080" y="3977640"/>
            <a:ext cx="3493008" cy="2121408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B0C9">
                <a:alpha val="3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2688" y="42519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B45309"/>
          </a:solidFill>
          <a:ln/>
        </p:spPr>
      </p:sp>
      <p:sp>
        <p:nvSpPr>
          <p:cNvPr id="21" name="Text 19"/>
          <p:cNvSpPr/>
          <p:nvPr/>
        </p:nvSpPr>
        <p:spPr>
          <a:xfrm>
            <a:off x="932688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08760" y="4288536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0120" y="4846320"/>
            <a:ext cx="2898648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8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(hash de senha)</a:t>
            </a:r>
            <a:endParaRPr lang="en-US" sz="128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8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por token</a:t>
            </a:r>
            <a:endParaRPr lang="en-US" sz="1280" dirty="0"/>
          </a:p>
        </p:txBody>
      </p:sp>
      <p:sp>
        <p:nvSpPr>
          <p:cNvPr id="24" name="Shape 22"/>
          <p:cNvSpPr/>
          <p:nvPr/>
        </p:nvSpPr>
        <p:spPr>
          <a:xfrm>
            <a:off x="4389120" y="3977640"/>
            <a:ext cx="3493008" cy="2121408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B0C9">
                <a:alpha val="3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81728" y="42519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D2E93"/>
          </a:solidFill>
          <a:ln/>
        </p:spPr>
      </p:sp>
      <p:sp>
        <p:nvSpPr>
          <p:cNvPr id="26" name="Text 24"/>
          <p:cNvSpPr/>
          <p:nvPr/>
        </p:nvSpPr>
        <p:spPr>
          <a:xfrm>
            <a:off x="4681728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257800" y="4288536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Testes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709160" y="4846320"/>
            <a:ext cx="2898648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8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128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8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ngrok (túnel de testes)</a:t>
            </a:r>
            <a:endParaRPr lang="en-US" sz="1280" dirty="0"/>
          </a:p>
        </p:txBody>
      </p:sp>
      <p:sp>
        <p:nvSpPr>
          <p:cNvPr id="29" name="Shape 27"/>
          <p:cNvSpPr/>
          <p:nvPr/>
        </p:nvSpPr>
        <p:spPr>
          <a:xfrm>
            <a:off x="8138160" y="3977640"/>
            <a:ext cx="3493008" cy="2121408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B0C9">
                <a:alpha val="3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30768" y="42519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36506B"/>
          </a:solidFill>
          <a:ln/>
        </p:spPr>
      </p:sp>
      <p:sp>
        <p:nvSpPr>
          <p:cNvPr id="31" name="Text 29"/>
          <p:cNvSpPr/>
          <p:nvPr/>
        </p:nvSpPr>
        <p:spPr>
          <a:xfrm>
            <a:off x="8430768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006840" y="4288536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458200" y="4846320"/>
            <a:ext cx="2898648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8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</a:t>
            </a:r>
            <a:endParaRPr lang="en-US" sz="128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8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28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8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Workbench</a:t>
            </a:r>
            <a:endParaRPr lang="en-US" sz="128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8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Railway</a:t>
            </a:r>
            <a:endParaRPr lang="en-US" sz="12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do Projeto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em camadas — do usuário ao banco de dados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32004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B0C9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3200400" cy="109728"/>
          </a:xfrm>
          <a:prstGeom prst="roundRect">
            <a:avLst>
              <a:gd name="adj" fmla="val 41667"/>
            </a:avLst>
          </a:prstGeom>
          <a:solidFill>
            <a:srgbClr val="0176D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276856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17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617720" y="1965960"/>
            <a:ext cx="32004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B0C9">
                <a:alpha val="3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1965960"/>
            <a:ext cx="3200400" cy="109728"/>
          </a:xfrm>
          <a:prstGeom prst="roundRect">
            <a:avLst>
              <a:gd name="adj" fmla="val 41667"/>
            </a:avLst>
          </a:prstGeom>
          <a:solidFill>
            <a:srgbClr val="16233B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2276856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17720" y="2788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732520" y="1965960"/>
            <a:ext cx="32004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B0C9">
                <a:alpha val="3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732520" y="1965960"/>
            <a:ext cx="3200400" cy="109728"/>
          </a:xfrm>
          <a:prstGeom prst="roundRect">
            <a:avLst>
              <a:gd name="adj" fmla="val 41667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8732520" y="2276856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732520" y="2788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023360" y="2651760"/>
            <a:ext cx="548640" cy="0"/>
          </a:xfrm>
          <a:prstGeom prst="line">
            <a:avLst/>
          </a:prstGeom>
          <a:noFill/>
          <a:ln w="31750">
            <a:solidFill>
              <a:srgbClr val="0176D3"/>
            </a:solidFill>
            <a:prstDash val="solid"/>
            <a:headEnd type="triangl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863840" y="2651760"/>
            <a:ext cx="822960" cy="0"/>
          </a:xfrm>
          <a:prstGeom prst="line">
            <a:avLst/>
          </a:prstGeom>
          <a:noFill/>
          <a:ln w="31750">
            <a:solidFill>
              <a:srgbClr val="0176D3"/>
            </a:solidFill>
            <a:prstDash val="solid"/>
            <a:headEnd type="triangl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640080" y="3502152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via HTTP / JSON  ·  autenticação por token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4480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Camadas do backend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4892040"/>
            <a:ext cx="20116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B0C9">
                <a:alpha val="3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5074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17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31520" y="54589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JPA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816352" y="4892040"/>
            <a:ext cx="20116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B0C9">
                <a:alpha val="3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816352" y="5074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17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907792" y="54589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a dados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992624" y="4892040"/>
            <a:ext cx="20116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B0C9">
                <a:alpha val="3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92624" y="5074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17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084064" y="54589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negócio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168896" y="4892040"/>
            <a:ext cx="20116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B0C9">
                <a:alpha val="3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168896" y="5074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17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260336" y="54589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+ DTOs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345168" y="4892040"/>
            <a:ext cx="20116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B0C9">
                <a:alpha val="3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345168" y="5074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17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436608" y="54589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BCrypt, helpers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Divisão de Tarefas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 Scrum e frentes de trabalho da equipe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4297680" cy="4572000"/>
          </a:xfrm>
          <a:prstGeom prst="roundRect">
            <a:avLst>
              <a:gd name="adj" fmla="val 1915"/>
            </a:avLst>
          </a:prstGeom>
          <a:solidFill>
            <a:srgbClr val="16233B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B0C9">
                <a:alpha val="3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8745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05840" y="2423160"/>
            <a:ext cx="457200" cy="457200"/>
          </a:xfrm>
          <a:prstGeom prst="ellipse">
            <a:avLst/>
          </a:prstGeom>
          <a:solidFill>
            <a:srgbClr val="0176D3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24231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176D3"/>
          </a:solidFill>
          <a:ln/>
        </p:spPr>
      </p:sp>
      <p:sp>
        <p:nvSpPr>
          <p:cNvPr id="8" name="Text 6"/>
          <p:cNvSpPr/>
          <p:nvPr/>
        </p:nvSpPr>
        <p:spPr>
          <a:xfrm>
            <a:off x="1600200" y="23774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600200" y="2706624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Papéis e cerimônias ágeis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005840" y="3355848"/>
            <a:ext cx="457200" cy="457200"/>
          </a:xfrm>
          <a:prstGeom prst="ellipse">
            <a:avLst/>
          </a:prstGeom>
          <a:solidFill>
            <a:srgbClr val="0176D3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335584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176D3"/>
          </a:solidFill>
          <a:ln/>
        </p:spPr>
      </p:sp>
      <p:sp>
        <p:nvSpPr>
          <p:cNvPr id="12" name="Text 10"/>
          <p:cNvSpPr/>
          <p:nvPr/>
        </p:nvSpPr>
        <p:spPr>
          <a:xfrm>
            <a:off x="1600200" y="33101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sprints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600200" y="363931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Entregas incrementais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005840" y="4288536"/>
            <a:ext cx="457200" cy="457200"/>
          </a:xfrm>
          <a:prstGeom prst="ellipse">
            <a:avLst/>
          </a:prstGeom>
          <a:solidFill>
            <a:srgbClr val="0176D3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5840" y="428853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176D3"/>
          </a:solidFill>
          <a:ln/>
        </p:spPr>
      </p:sp>
      <p:sp>
        <p:nvSpPr>
          <p:cNvPr id="16" name="Text 14"/>
          <p:cNvSpPr/>
          <p:nvPr/>
        </p:nvSpPr>
        <p:spPr>
          <a:xfrm>
            <a:off x="1600200" y="4242816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600200" y="45720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ao fim de cada sprint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005840" y="5221224"/>
            <a:ext cx="457200" cy="457200"/>
          </a:xfrm>
          <a:prstGeom prst="ellipse">
            <a:avLst/>
          </a:prstGeom>
          <a:solidFill>
            <a:srgbClr val="0176D3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5840" y="522122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176D3"/>
          </a:solidFill>
          <a:ln/>
        </p:spPr>
      </p:sp>
      <p:sp>
        <p:nvSpPr>
          <p:cNvPr id="20" name="Text 18"/>
          <p:cNvSpPr/>
          <p:nvPr/>
        </p:nvSpPr>
        <p:spPr>
          <a:xfrm>
            <a:off x="1600200" y="5175504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600200" y="550468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— facilita e acompanha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257800" y="169164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Frentes de trabalho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257800" y="2194560"/>
            <a:ext cx="626364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B0C9">
                <a:alpha val="3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257800" y="2194560"/>
            <a:ext cx="109728" cy="1170432"/>
          </a:xfrm>
          <a:prstGeom prst="roundRect">
            <a:avLst>
              <a:gd name="adj" fmla="val 41667"/>
            </a:avLst>
          </a:prstGeom>
          <a:solidFill>
            <a:srgbClr val="2E844A"/>
          </a:solidFill>
          <a:ln/>
        </p:spPr>
      </p:sp>
      <p:sp>
        <p:nvSpPr>
          <p:cNvPr id="25" name="Text 23"/>
          <p:cNvSpPr/>
          <p:nvPr/>
        </p:nvSpPr>
        <p:spPr>
          <a:xfrm>
            <a:off x="5577840" y="2414016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Banco de Dados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5577840" y="28529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Responsável: Lucas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10104120" y="2578608"/>
            <a:ext cx="1234440" cy="402336"/>
          </a:xfrm>
          <a:prstGeom prst="roundRect">
            <a:avLst>
              <a:gd name="adj" fmla="val 50000"/>
            </a:avLst>
          </a:prstGeom>
          <a:solidFill>
            <a:srgbClr val="E7F3EA"/>
          </a:solidFill>
          <a:ln/>
        </p:spPr>
      </p:sp>
      <p:sp>
        <p:nvSpPr>
          <p:cNvPr id="28" name="Text 26"/>
          <p:cNvSpPr/>
          <p:nvPr/>
        </p:nvSpPr>
        <p:spPr>
          <a:xfrm>
            <a:off x="10104120" y="2578608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8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257800" y="3511296"/>
            <a:ext cx="626364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B0C9">
                <a:alpha val="3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257800" y="3511296"/>
            <a:ext cx="109728" cy="1170432"/>
          </a:xfrm>
          <a:prstGeom prst="roundRect">
            <a:avLst>
              <a:gd name="adj" fmla="val 41667"/>
            </a:avLst>
          </a:prstGeom>
          <a:solidFill>
            <a:srgbClr val="0176D3"/>
          </a:solidFill>
          <a:ln/>
        </p:spPr>
      </p:sp>
      <p:sp>
        <p:nvSpPr>
          <p:cNvPr id="31" name="Text 29"/>
          <p:cNvSpPr/>
          <p:nvPr/>
        </p:nvSpPr>
        <p:spPr>
          <a:xfrm>
            <a:off x="5577840" y="373075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Integração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5577840" y="416966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Responsável: Equipe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10104120" y="3895344"/>
            <a:ext cx="1234440" cy="402336"/>
          </a:xfrm>
          <a:prstGeom prst="roundRect">
            <a:avLst>
              <a:gd name="adj" fmla="val 50000"/>
            </a:avLst>
          </a:prstGeom>
          <a:solidFill>
            <a:srgbClr val="E8F2FC"/>
          </a:solidFill>
          <a:ln/>
        </p:spPr>
      </p:sp>
      <p:sp>
        <p:nvSpPr>
          <p:cNvPr id="34" name="Text 32"/>
          <p:cNvSpPr/>
          <p:nvPr/>
        </p:nvSpPr>
        <p:spPr>
          <a:xfrm>
            <a:off x="10104120" y="3895344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17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257800" y="4828032"/>
            <a:ext cx="626364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B0C9">
                <a:alpha val="3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257800" y="4828032"/>
            <a:ext cx="109728" cy="1170432"/>
          </a:xfrm>
          <a:prstGeom prst="roundRect">
            <a:avLst>
              <a:gd name="adj" fmla="val 41667"/>
            </a:avLst>
          </a:prstGeom>
          <a:solidFill>
            <a:srgbClr val="B45309"/>
          </a:solidFill>
          <a:ln/>
        </p:spPr>
      </p:sp>
      <p:sp>
        <p:nvSpPr>
          <p:cNvPr id="37" name="Text 35"/>
          <p:cNvSpPr/>
          <p:nvPr/>
        </p:nvSpPr>
        <p:spPr>
          <a:xfrm>
            <a:off x="5577840" y="504748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&amp; Documentação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5577840" y="5486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Responsável: Equipe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10104120" y="5212080"/>
            <a:ext cx="1234440" cy="402336"/>
          </a:xfrm>
          <a:prstGeom prst="roundRect">
            <a:avLst>
              <a:gd name="adj" fmla="val 50000"/>
            </a:avLst>
          </a:prstGeom>
          <a:solidFill>
            <a:srgbClr val="E8F2FC"/>
          </a:solidFill>
          <a:ln/>
        </p:spPr>
      </p:sp>
      <p:sp>
        <p:nvSpPr>
          <p:cNvPr id="40" name="Text 38"/>
          <p:cNvSpPr/>
          <p:nvPr/>
        </p:nvSpPr>
        <p:spPr>
          <a:xfrm>
            <a:off x="10104120" y="5212080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17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 — Lucas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Contribuições no projeto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383280" cy="420624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B0C9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91640" y="2103120"/>
            <a:ext cx="1280160" cy="1280160"/>
          </a:xfrm>
          <a:prstGeom prst="ellipse">
            <a:avLst/>
          </a:prstGeom>
          <a:solidFill>
            <a:srgbClr val="2E844A"/>
          </a:solidFill>
          <a:ln/>
        </p:spPr>
      </p:sp>
      <p:sp>
        <p:nvSpPr>
          <p:cNvPr id="6" name="Text 4"/>
          <p:cNvSpPr/>
          <p:nvPr/>
        </p:nvSpPr>
        <p:spPr>
          <a:xfrm>
            <a:off x="1691640" y="210312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40690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Banco de Dados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717804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B0C9">
                <a:alpha val="3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19659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7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Banco de Dados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0" y="2468880"/>
            <a:ext cx="65836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e criação do banco MySQL (tabelas, relacionamentos e script SQL)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JPA e repositórios com Spring Data JPA / Hibernate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e segurança: login, hash de senha com BCrypt e sessão por token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acesso por tipo de usuário (Administrador / Comum)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negócio: solicitações, categorias e usuários (camada de serviço)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em Spring Boot e testes de ponta a ponta no Postman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do backend (Railway) e integração com o front-end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 — Renato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 reservado para o membro preencher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383280" cy="420624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B0C9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91640" y="2103120"/>
            <a:ext cx="1280160" cy="1280160"/>
          </a:xfrm>
          <a:prstGeom prst="ellipse">
            <a:avLst/>
          </a:prstGeom>
          <a:solidFill>
            <a:srgbClr val="0176D3"/>
          </a:solidFill>
          <a:ln/>
        </p:spPr>
      </p:sp>
      <p:sp>
        <p:nvSpPr>
          <p:cNvPr id="6" name="Text 4"/>
          <p:cNvSpPr/>
          <p:nvPr/>
        </p:nvSpPr>
        <p:spPr>
          <a:xfrm>
            <a:off x="1691640" y="210312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Renato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40690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Membro da equipe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717804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B0C9">
                <a:alpha val="3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20116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preencher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709160" y="269748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5F8FC"/>
          </a:solidFill>
          <a:ln w="19050">
            <a:solidFill>
              <a:srgbClr val="D8DEE7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5166360" y="2843784"/>
            <a:ext cx="6035040" cy="0"/>
          </a:xfrm>
          <a:prstGeom prst="line">
            <a:avLst/>
          </a:prstGeom>
          <a:noFill/>
          <a:ln w="15240">
            <a:solidFill>
              <a:srgbClr val="D8DEE7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709160" y="335584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5F8FC"/>
          </a:solidFill>
          <a:ln w="19050">
            <a:solidFill>
              <a:srgbClr val="D8DEE7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5166360" y="3502152"/>
            <a:ext cx="6035040" cy="0"/>
          </a:xfrm>
          <a:prstGeom prst="line">
            <a:avLst/>
          </a:prstGeom>
          <a:noFill/>
          <a:ln w="15240">
            <a:solidFill>
              <a:srgbClr val="D8DEE7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4709160" y="401421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5F8FC"/>
          </a:solidFill>
          <a:ln w="19050">
            <a:solidFill>
              <a:srgbClr val="D8DEE7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5166360" y="4160520"/>
            <a:ext cx="6035040" cy="0"/>
          </a:xfrm>
          <a:prstGeom prst="line">
            <a:avLst/>
          </a:prstGeom>
          <a:noFill/>
          <a:ln w="15240">
            <a:solidFill>
              <a:srgbClr val="D8DEE7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4709160" y="467258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5F8FC"/>
          </a:solidFill>
          <a:ln w="19050">
            <a:solidFill>
              <a:srgbClr val="D8DEE7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5166360" y="4818888"/>
            <a:ext cx="6035040" cy="0"/>
          </a:xfrm>
          <a:prstGeom prst="line">
            <a:avLst/>
          </a:prstGeom>
          <a:noFill/>
          <a:ln w="15240">
            <a:solidFill>
              <a:srgbClr val="D8DEE7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4709160" y="53492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membro adiciona aqui as tarefas e entregas pelas quais foi responsável.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 — Sakiri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 reservado para o membro preencher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383280" cy="420624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B0C9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91640" y="2103120"/>
            <a:ext cx="1280160" cy="12801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691640" y="210312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Sakiri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40690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Membro da equipe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717804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B0C9">
                <a:alpha val="3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20116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preencher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709160" y="269748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5F8FC"/>
          </a:solidFill>
          <a:ln w="19050">
            <a:solidFill>
              <a:srgbClr val="D8DEE7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5166360" y="2843784"/>
            <a:ext cx="6035040" cy="0"/>
          </a:xfrm>
          <a:prstGeom prst="line">
            <a:avLst/>
          </a:prstGeom>
          <a:noFill/>
          <a:ln w="15240">
            <a:solidFill>
              <a:srgbClr val="D8DEE7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709160" y="335584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5F8FC"/>
          </a:solidFill>
          <a:ln w="19050">
            <a:solidFill>
              <a:srgbClr val="D8DEE7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5166360" y="3502152"/>
            <a:ext cx="6035040" cy="0"/>
          </a:xfrm>
          <a:prstGeom prst="line">
            <a:avLst/>
          </a:prstGeom>
          <a:noFill/>
          <a:ln w="15240">
            <a:solidFill>
              <a:srgbClr val="D8DEE7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4709160" y="401421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5F8FC"/>
          </a:solidFill>
          <a:ln w="19050">
            <a:solidFill>
              <a:srgbClr val="D8DEE7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5166360" y="4160520"/>
            <a:ext cx="6035040" cy="0"/>
          </a:xfrm>
          <a:prstGeom prst="line">
            <a:avLst/>
          </a:prstGeom>
          <a:noFill/>
          <a:ln w="15240">
            <a:solidFill>
              <a:srgbClr val="D8DEE7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4709160" y="467258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5F8FC"/>
          </a:solidFill>
          <a:ln w="19050">
            <a:solidFill>
              <a:srgbClr val="D8DEE7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5166360" y="4818888"/>
            <a:ext cx="6035040" cy="0"/>
          </a:xfrm>
          <a:prstGeom prst="line">
            <a:avLst/>
          </a:prstGeom>
          <a:noFill/>
          <a:ln w="15240">
            <a:solidFill>
              <a:srgbClr val="D8DEE7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4709160" y="53492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membro adiciona aqui as tarefas e entregas pelas quais foi responsável.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 — Felipe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 reservado para o membro preencher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383280" cy="420624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B0C9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91640" y="2103120"/>
            <a:ext cx="1280160" cy="128016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1691640" y="210312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Felipe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40690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Membro da equipe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717804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B0C9">
                <a:alpha val="3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20116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preencher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709160" y="269748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5F8FC"/>
          </a:solidFill>
          <a:ln w="19050">
            <a:solidFill>
              <a:srgbClr val="D8DEE7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5166360" y="2843784"/>
            <a:ext cx="6035040" cy="0"/>
          </a:xfrm>
          <a:prstGeom prst="line">
            <a:avLst/>
          </a:prstGeom>
          <a:noFill/>
          <a:ln w="15240">
            <a:solidFill>
              <a:srgbClr val="D8DEE7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709160" y="335584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5F8FC"/>
          </a:solidFill>
          <a:ln w="19050">
            <a:solidFill>
              <a:srgbClr val="D8DEE7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5166360" y="3502152"/>
            <a:ext cx="6035040" cy="0"/>
          </a:xfrm>
          <a:prstGeom prst="line">
            <a:avLst/>
          </a:prstGeom>
          <a:noFill/>
          <a:ln w="15240">
            <a:solidFill>
              <a:srgbClr val="D8DEE7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4709160" y="401421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5F8FC"/>
          </a:solidFill>
          <a:ln w="19050">
            <a:solidFill>
              <a:srgbClr val="D8DEE7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5166360" y="4160520"/>
            <a:ext cx="6035040" cy="0"/>
          </a:xfrm>
          <a:prstGeom prst="line">
            <a:avLst/>
          </a:prstGeom>
          <a:noFill/>
          <a:ln w="15240">
            <a:solidFill>
              <a:srgbClr val="D8DEE7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4709160" y="467258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5F8FC"/>
          </a:solidFill>
          <a:ln w="19050">
            <a:solidFill>
              <a:srgbClr val="D8DEE7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5166360" y="4818888"/>
            <a:ext cx="6035040" cy="0"/>
          </a:xfrm>
          <a:prstGeom prst="line">
            <a:avLst/>
          </a:prstGeom>
          <a:noFill/>
          <a:ln w="15240">
            <a:solidFill>
              <a:srgbClr val="D8DEE7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4709160" y="53492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membro adiciona aqui as tarefas e entregas pelas quais foi responsável.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dos Protótipos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Telas de referência do fluxo do usuário (layout ilustrativo)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12080" cy="2423160"/>
          </a:xfrm>
          <a:prstGeom prst="roundRect">
            <a:avLst>
              <a:gd name="adj" fmla="val 3396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B0C9">
                <a:alpha val="32000"/>
              </a:srgbClr>
            </a:outerShdw>
          </a:effectLst>
        </p:spPr>
      </p:sp>
      <p:pic>
        <p:nvPicPr>
          <p:cNvPr id="5" name="Image 0" descr="telas/crop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709928"/>
            <a:ext cx="4992624" cy="1783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4672" y="354787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 </a:t>
            </a:r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Acesso do colaborador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172200" y="1600200"/>
            <a:ext cx="5212080" cy="2423160"/>
          </a:xfrm>
          <a:prstGeom prst="roundRect">
            <a:avLst>
              <a:gd name="adj" fmla="val 3396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B0C9">
                <a:alpha val="32000"/>
              </a:srgbClr>
            </a:outerShdw>
          </a:effectLst>
        </p:spPr>
      </p:sp>
      <p:pic>
        <p:nvPicPr>
          <p:cNvPr id="8" name="Image 1" descr="telas/crop-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928" y="1709928"/>
            <a:ext cx="4992624" cy="1783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36792" y="354787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Solicitações  </a:t>
            </a:r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Home após o login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40080" y="4224528"/>
            <a:ext cx="5212080" cy="2423160"/>
          </a:xfrm>
          <a:prstGeom prst="roundRect">
            <a:avLst>
              <a:gd name="adj" fmla="val 3396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B0C9">
                <a:alpha val="32000"/>
              </a:srgbClr>
            </a:outerShdw>
          </a:effectLst>
        </p:spPr>
      </p:sp>
      <p:pic>
        <p:nvPicPr>
          <p:cNvPr id="11" name="Image 2" descr="telas/crop-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334256"/>
            <a:ext cx="4992624" cy="17830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4672" y="6172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Solicitação  </a:t>
            </a:r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Abertura de um pedido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6172200" y="4224528"/>
            <a:ext cx="5212080" cy="2423160"/>
          </a:xfrm>
          <a:prstGeom prst="roundRect">
            <a:avLst>
              <a:gd name="adj" fmla="val 3396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BB0C9">
                <a:alpha val="32000"/>
              </a:srgbClr>
            </a:outerShdw>
          </a:effectLst>
        </p:spPr>
      </p:sp>
      <p:pic>
        <p:nvPicPr>
          <p:cNvPr id="14" name="Image 3" descr="telas/crop-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928" y="4334256"/>
            <a:ext cx="4992624" cy="17830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336792" y="6172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Detalhe &amp; Respostas  </a:t>
            </a:r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Acompanhamento e resolução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206240"/>
            <a:ext cx="4572000" cy="4572000"/>
          </a:xfrm>
          <a:prstGeom prst="ellipse">
            <a:avLst/>
          </a:prstGeom>
          <a:solidFill>
            <a:srgbClr val="20345B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2011680"/>
            <a:ext cx="4572000" cy="4572000"/>
          </a:xfrm>
          <a:prstGeom prst="ellipse">
            <a:avLst/>
          </a:prstGeom>
          <a:solidFill>
            <a:srgbClr val="20345B"/>
          </a:solidFill>
          <a:ln/>
        </p:spPr>
      </p:sp>
      <p:pic>
        <p:nvPicPr>
          <p:cNvPr id="4" name="Image 0" descr="tela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14173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640080" y="22860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HelpSystem — um fórum interno para perguntar, responder e resolver em equipe.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40080" y="3337560"/>
            <a:ext cx="3429000" cy="1463040"/>
          </a:xfrm>
          <a:prstGeom prst="roundRect">
            <a:avLst>
              <a:gd name="adj" fmla="val 5625"/>
            </a:avLst>
          </a:prstGeom>
          <a:solidFill>
            <a:srgbClr val="20345B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3611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7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41148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Concluído e em deploy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251960" y="3337560"/>
            <a:ext cx="3429000" cy="1463040"/>
          </a:xfrm>
          <a:prstGeom prst="roundRect">
            <a:avLst>
              <a:gd name="adj" fmla="val 5625"/>
            </a:avLst>
          </a:prstGeom>
          <a:solidFill>
            <a:srgbClr val="20345B"/>
          </a:solidFill>
          <a:ln/>
        </p:spPr>
      </p:sp>
      <p:sp>
        <p:nvSpPr>
          <p:cNvPr id="11" name="Text 8"/>
          <p:cNvSpPr/>
          <p:nvPr/>
        </p:nvSpPr>
        <p:spPr>
          <a:xfrm>
            <a:off x="4526280" y="3611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7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526280" y="41148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e populado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863840" y="3337560"/>
            <a:ext cx="3429000" cy="1463040"/>
          </a:xfrm>
          <a:prstGeom prst="roundRect">
            <a:avLst>
              <a:gd name="adj" fmla="val 5625"/>
            </a:avLst>
          </a:prstGeom>
          <a:solidFill>
            <a:srgbClr val="20345B"/>
          </a:solidFill>
          <a:ln/>
        </p:spPr>
      </p:sp>
      <p:sp>
        <p:nvSpPr>
          <p:cNvPr id="14" name="Text 11"/>
          <p:cNvSpPr/>
          <p:nvPr/>
        </p:nvSpPr>
        <p:spPr>
          <a:xfrm>
            <a:off x="8138160" y="3611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7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138160" y="41148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Integrado via API REST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40080" y="5806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Equipe: 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(Scrum Master) · Renato · Sakiri · Felipe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2026-08-06T14:38:29Z</dcterms:created>
  <dcterms:modified xsi:type="dcterms:W3CDTF">2026-08-06T14:38:29Z</dcterms:modified>
</cp:coreProperties>
</file>