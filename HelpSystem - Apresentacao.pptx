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035040" cy="6035040"/>
          </a:xfrm>
          <a:prstGeom prst="ellipse">
            <a:avLst/>
          </a:prstGeom>
          <a:solidFill>
            <a:srgbClr val="1C2740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3931920"/>
            <a:ext cx="4206240" cy="4206240"/>
          </a:xfrm>
          <a:prstGeom prst="ellipse">
            <a:avLst/>
          </a:prstGeom>
          <a:solidFill>
            <a:srgbClr val="1C2740"/>
          </a:solidFill>
          <a:ln/>
        </p:spPr>
      </p:sp>
      <p:pic>
        <p:nvPicPr>
          <p:cNvPr id="4" name="Image 0" descr="tela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3957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· DESAFIO SCRUM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8368" y="26974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HelpSystem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68580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Fórum interno de ajuda — dúvidas e soluções em equipe.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85800" y="5257800"/>
            <a:ext cx="10820095" cy="0"/>
          </a:xfrm>
          <a:prstGeom prst="line">
            <a:avLst/>
          </a:prstGeom>
          <a:noFill/>
          <a:ln w="12700">
            <a:solidFill>
              <a:srgbClr val="2635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486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· Renato · Sakiri · Felipe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58704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91095" y="5486400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C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Specialisterne + Salesforce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INTRODUÇÃO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HelpSystem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8200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fórum interno de perguntas e respostas entre colaboradores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594360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0848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76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97280" y="2542032"/>
            <a:ext cx="52120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4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HelpSystem é um fórum interno de ajuda. Um colaborador publica uma dúvida ou problema e outros colaboradores respondem, ajudando a resolver — e o conhecimento fica registrado para toda a equipe consultar depois.</a:t>
            </a:r>
            <a:endParaRPr lang="en-US" sz="14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endParaRPr lang="en-US" sz="14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45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publicação tem categoria, prioridade, status e histórico de respostas, permitindo acompanhar o problema do início à solução, com notificações a cada atualização.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903720" y="1783080"/>
            <a:ext cx="4617720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78040" y="196596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E4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001000" y="203911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001000" y="244144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colaborador abre uma dúvida com categoria e prioridade.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03720" y="3273552"/>
            <a:ext cx="4617720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78040" y="3456432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E4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001000" y="352958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001000" y="393192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 colaboradores respondem e ajudam a resolver.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03720" y="4764024"/>
            <a:ext cx="4617720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78040" y="4946904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E4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001000" y="502005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Acompanhar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001000" y="542239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respostas e notificações até a solução final.</a:t>
            </a:r>
            <a:endParaRPr lang="en-US" sz="1250" dirty="0"/>
          </a:p>
        </p:txBody>
      </p:sp>
      <p:pic>
        <p:nvPicPr>
          <p:cNvPr id="21" name="Image 0" descr="tela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37376"/>
            <a:ext cx="182880" cy="1828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23544" y="64190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System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809848" y="641908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HelpSystem  ·  Desafio Scrum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0408615" y="641908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TECNOLOGIAS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utilizadas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8200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Linguagens, frameworks e ambiente de desenvolvimento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3502152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96696" y="2121408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0176D3"/>
          </a:solidFill>
          <a:ln/>
        </p:spPr>
      </p:sp>
      <p:sp>
        <p:nvSpPr>
          <p:cNvPr id="8" name="Text 6"/>
          <p:cNvSpPr/>
          <p:nvPr/>
        </p:nvSpPr>
        <p:spPr>
          <a:xfrm>
            <a:off x="996696" y="2121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18488" y="2139696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051560" y="2761488"/>
            <a:ext cx="2862072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6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126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6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</a:t>
            </a:r>
            <a:endParaRPr lang="en-US" sz="126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6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(REST)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4443984" y="1828800"/>
            <a:ext cx="3502152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121408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121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76672" y="2139696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de dados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809744" y="2761488"/>
            <a:ext cx="2862072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6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6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6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26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6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8202168" y="1828800"/>
            <a:ext cx="3502152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13064" y="2121408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2E844A"/>
          </a:solidFill>
          <a:ln/>
        </p:spPr>
      </p:sp>
      <p:sp>
        <p:nvSpPr>
          <p:cNvPr id="18" name="Text 16"/>
          <p:cNvSpPr/>
          <p:nvPr/>
        </p:nvSpPr>
        <p:spPr>
          <a:xfrm>
            <a:off x="8513064" y="2121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34856" y="2139696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567928" y="2761488"/>
            <a:ext cx="2862072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6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26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6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26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6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260" dirty="0"/>
          </a:p>
        </p:txBody>
      </p:sp>
      <p:sp>
        <p:nvSpPr>
          <p:cNvPr id="21" name="Shape 19"/>
          <p:cNvSpPr/>
          <p:nvPr/>
        </p:nvSpPr>
        <p:spPr>
          <a:xfrm>
            <a:off x="685800" y="4151376"/>
            <a:ext cx="3502152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96696" y="4443984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996696" y="44439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618488" y="4462272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051560" y="5084064"/>
            <a:ext cx="2862072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6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(hash de senha)</a:t>
            </a:r>
            <a:endParaRPr lang="en-US" sz="126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6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por token</a:t>
            </a:r>
            <a:endParaRPr lang="en-US" sz="1260" dirty="0"/>
          </a:p>
        </p:txBody>
      </p:sp>
      <p:sp>
        <p:nvSpPr>
          <p:cNvPr id="26" name="Shape 24"/>
          <p:cNvSpPr/>
          <p:nvPr/>
        </p:nvSpPr>
        <p:spPr>
          <a:xfrm>
            <a:off x="4443984" y="4151376"/>
            <a:ext cx="3502152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4443984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6D2E93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44439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376672" y="4462272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&amp; testes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4809744" y="5084064"/>
            <a:ext cx="2862072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6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26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6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 (túnel)</a:t>
            </a:r>
            <a:endParaRPr lang="en-US" sz="1260" dirty="0"/>
          </a:p>
        </p:txBody>
      </p:sp>
      <p:sp>
        <p:nvSpPr>
          <p:cNvPr id="31" name="Shape 29"/>
          <p:cNvSpPr/>
          <p:nvPr/>
        </p:nvSpPr>
        <p:spPr>
          <a:xfrm>
            <a:off x="8202168" y="4151376"/>
            <a:ext cx="3502152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513064" y="4443984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3A4B66"/>
          </a:solidFill>
          <a:ln/>
        </p:spPr>
      </p:sp>
      <p:sp>
        <p:nvSpPr>
          <p:cNvPr id="33" name="Text 31"/>
          <p:cNvSpPr/>
          <p:nvPr/>
        </p:nvSpPr>
        <p:spPr>
          <a:xfrm>
            <a:off x="8513064" y="44439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134856" y="4462272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8567928" y="5084064"/>
            <a:ext cx="2862072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6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26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6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6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6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6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6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Railway</a:t>
            </a:r>
            <a:endParaRPr lang="en-US" sz="1260" dirty="0"/>
          </a:p>
        </p:txBody>
      </p:sp>
      <p:pic>
        <p:nvPicPr>
          <p:cNvPr id="36" name="Image 0" descr="tela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37376"/>
            <a:ext cx="182880" cy="18288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923544" y="64190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System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3809848" y="641908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HelpSystem  ·  Desafio Scrum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10408615" y="641908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ARQUITETURA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do sistema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8200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 camadas conversam, do usuário ao banco de dados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32461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07692" y="2203704"/>
            <a:ext cx="585216" cy="585216"/>
          </a:xfrm>
          <a:prstGeom prst="roundRect">
            <a:avLst>
              <a:gd name="adj" fmla="val 14063"/>
            </a:avLst>
          </a:prstGeom>
          <a:solidFill>
            <a:srgbClr val="0176D3"/>
          </a:solidFill>
          <a:ln/>
        </p:spPr>
      </p:sp>
      <p:sp>
        <p:nvSpPr>
          <p:cNvPr id="8" name="Text 6"/>
          <p:cNvSpPr/>
          <p:nvPr/>
        </p:nvSpPr>
        <p:spPr>
          <a:xfrm>
            <a:off x="2107692" y="22037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843784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13639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1965960"/>
            <a:ext cx="32461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11012" y="2203704"/>
            <a:ext cx="585216" cy="585216"/>
          </a:xfrm>
          <a:prstGeom prst="roundRect">
            <a:avLst>
              <a:gd name="adj" fmla="val 14063"/>
            </a:avLst>
          </a:prstGeom>
          <a:solidFill>
            <a:srgbClr val="121A2B"/>
          </a:solidFill>
          <a:ln/>
        </p:spPr>
      </p:sp>
      <p:sp>
        <p:nvSpPr>
          <p:cNvPr id="13" name="Text 11"/>
          <p:cNvSpPr/>
          <p:nvPr/>
        </p:nvSpPr>
        <p:spPr>
          <a:xfrm>
            <a:off x="5811012" y="22037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80560" y="2843784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80560" y="313639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51392" y="1965960"/>
            <a:ext cx="32461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181844" y="2203704"/>
            <a:ext cx="585216" cy="585216"/>
          </a:xfrm>
          <a:prstGeom prst="roundRect">
            <a:avLst>
              <a:gd name="adj" fmla="val 14063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0181844" y="22037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51392" y="2843784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de dados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851392" y="313639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78224" y="2697480"/>
            <a:ext cx="347472" cy="0"/>
          </a:xfrm>
          <a:prstGeom prst="line">
            <a:avLst/>
          </a:prstGeom>
          <a:noFill/>
          <a:ln w="28575">
            <a:solidFill>
              <a:srgbClr val="0176D3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781544" y="2697480"/>
            <a:ext cx="1014984" cy="0"/>
          </a:xfrm>
          <a:prstGeom prst="line">
            <a:avLst/>
          </a:prstGeom>
          <a:noFill/>
          <a:ln w="28575">
            <a:solidFill>
              <a:srgbClr val="0176D3"/>
            </a:solidFill>
            <a:prstDash val="solid"/>
            <a:headEnd type="triangl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85800" y="3575304"/>
            <a:ext cx="108200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HTTP / JSON  ·  autenticação por token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434340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Camadas do backend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868680" y="5285232"/>
            <a:ext cx="8796528" cy="0"/>
          </a:xfrm>
          <a:prstGeom prst="line">
            <a:avLst/>
          </a:prstGeom>
          <a:noFill/>
          <a:ln w="19050">
            <a:solidFill>
              <a:srgbClr val="E4E9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754880"/>
            <a:ext cx="2011680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" y="495604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77240" y="53218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JPA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862072" y="4754880"/>
            <a:ext cx="2011680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862072" y="495604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2953512" y="53218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dados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38344" y="4754880"/>
            <a:ext cx="2011680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38344" y="495604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5129784" y="53218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214616" y="4754880"/>
            <a:ext cx="2011680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214616" y="495604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7306056" y="53218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+ DTOs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390888" y="4754880"/>
            <a:ext cx="2011680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390888" y="495604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9482328" y="53218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· helpers</a:t>
            </a:r>
            <a:endParaRPr lang="en-US" sz="1150" dirty="0"/>
          </a:p>
        </p:txBody>
      </p:sp>
      <p:pic>
        <p:nvPicPr>
          <p:cNvPr id="41" name="Image 0" descr="tela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37376"/>
            <a:ext cx="182880" cy="18288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923544" y="64190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System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3809848" y="641908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HelpSystem  ·  Desafio Scrum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10408615" y="641908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BANCO DE DADOS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dados (MySQL)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8200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tabelas relacionadas — chaves primárias e estrangeiras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696212" y="2180844"/>
            <a:ext cx="2944368" cy="541782"/>
          </a:xfrm>
          <a:prstGeom prst="line">
            <a:avLst/>
          </a:prstGeom>
          <a:noFill/>
          <a:ln w="17780">
            <a:solidFill>
              <a:srgbClr val="B9C4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40580" y="2722626"/>
            <a:ext cx="0" cy="2596896"/>
          </a:xfrm>
          <a:prstGeom prst="line">
            <a:avLst/>
          </a:prstGeom>
          <a:noFill/>
          <a:ln w="17780">
            <a:solidFill>
              <a:srgbClr val="B9C4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6212" y="4814316"/>
            <a:ext cx="2944368" cy="505206"/>
          </a:xfrm>
          <a:prstGeom prst="line">
            <a:avLst/>
          </a:prstGeom>
          <a:noFill/>
          <a:ln w="17780">
            <a:solidFill>
              <a:srgbClr val="B9C4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4640580" y="5074920"/>
            <a:ext cx="3703320" cy="244602"/>
          </a:xfrm>
          <a:prstGeom prst="line">
            <a:avLst/>
          </a:prstGeom>
          <a:noFill/>
          <a:ln w="17780">
            <a:solidFill>
              <a:srgbClr val="B9C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4640580" y="2571750"/>
            <a:ext cx="3703320" cy="2747772"/>
          </a:xfrm>
          <a:prstGeom prst="line">
            <a:avLst/>
          </a:prstGeom>
          <a:noFill/>
          <a:ln w="17780">
            <a:solidFill>
              <a:srgbClr val="B9C4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4640580" y="2571750"/>
            <a:ext cx="3703320" cy="150876"/>
          </a:xfrm>
          <a:prstGeom prst="line">
            <a:avLst/>
          </a:prstGeom>
          <a:noFill/>
          <a:ln w="17780">
            <a:solidFill>
              <a:srgbClr val="B9C4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40580" y="2722626"/>
            <a:ext cx="3703320" cy="2352294"/>
          </a:xfrm>
          <a:prstGeom prst="line">
            <a:avLst/>
          </a:prstGeom>
          <a:noFill/>
          <a:ln w="17780">
            <a:solidFill>
              <a:srgbClr val="B9C4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737360"/>
            <a:ext cx="1965960" cy="886968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C3D0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1737360"/>
            <a:ext cx="1965960" cy="365760"/>
          </a:xfrm>
          <a:prstGeom prst="roundRect">
            <a:avLst>
              <a:gd name="adj" fmla="val 15000"/>
            </a:avLst>
          </a:prstGeom>
          <a:solidFill>
            <a:srgbClr val="121A2B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011680"/>
            <a:ext cx="1965960" cy="91440"/>
          </a:xfrm>
          <a:prstGeom prst="rect">
            <a:avLst/>
          </a:prstGeom>
          <a:solidFill>
            <a:srgbClr val="121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1737360"/>
            <a:ext cx="170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59536" y="2103120"/>
            <a:ext cx="1691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pPr indent="0" marL="0"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PK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859536" y="2363724"/>
            <a:ext cx="1691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pPr indent="0" marL="0">
              <a:buNone/>
            </a:pP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13232" y="4370832"/>
            <a:ext cx="1965960" cy="886968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C3D0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4370832"/>
            <a:ext cx="1965960" cy="365760"/>
          </a:xfrm>
          <a:prstGeom prst="roundRect">
            <a:avLst>
              <a:gd name="adj" fmla="val 15000"/>
            </a:avLst>
          </a:prstGeom>
          <a:solidFill>
            <a:srgbClr val="121A2B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4645152"/>
            <a:ext cx="1965960" cy="91440"/>
          </a:xfrm>
          <a:prstGeom prst="rect">
            <a:avLst/>
          </a:prstGeom>
          <a:solidFill>
            <a:srgbClr val="121A2B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370832"/>
            <a:ext cx="170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59536" y="4736592"/>
            <a:ext cx="1691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pPr indent="0" marL="0"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PK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859536" y="4997196"/>
            <a:ext cx="1691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pPr indent="0" marL="0">
              <a:buNone/>
            </a:pP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3383280" y="1627632"/>
            <a:ext cx="2514600" cy="2189988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12700">
            <a:solidFill>
              <a:srgbClr val="C3D0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1627632"/>
            <a:ext cx="2514600" cy="365760"/>
          </a:xfrm>
          <a:prstGeom prst="roundRect">
            <a:avLst>
              <a:gd name="adj" fmla="val 15000"/>
            </a:avLst>
          </a:prstGeom>
          <a:solidFill>
            <a:srgbClr val="121A2B"/>
          </a:solidFill>
          <a:ln/>
        </p:spPr>
      </p:sp>
      <p:sp>
        <p:nvSpPr>
          <p:cNvPr id="27" name="Shape 25"/>
          <p:cNvSpPr/>
          <p:nvPr/>
        </p:nvSpPr>
        <p:spPr>
          <a:xfrm>
            <a:off x="3383280" y="1901952"/>
            <a:ext cx="2514600" cy="91440"/>
          </a:xfrm>
          <a:prstGeom prst="rect">
            <a:avLst/>
          </a:prstGeom>
          <a:solidFill>
            <a:srgbClr val="121A2B"/>
          </a:solidFill>
          <a:ln/>
        </p:spPr>
      </p:sp>
      <p:sp>
        <p:nvSpPr>
          <p:cNvPr id="28" name="Text 26"/>
          <p:cNvSpPr/>
          <p:nvPr/>
        </p:nvSpPr>
        <p:spPr>
          <a:xfrm>
            <a:off x="3511296" y="1627632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29584" y="1993392"/>
            <a:ext cx="22402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pPr indent="0" marL="0"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PK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3529584" y="2253996"/>
            <a:ext cx="22402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pPr indent="0" marL="0">
              <a:buNone/>
            </a:pP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3529584" y="2514600"/>
            <a:ext cx="22402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pPr indent="0" marL="0">
              <a:buNone/>
            </a:pP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3529584" y="2775204"/>
            <a:ext cx="22402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senha_hash</a:t>
            </a:r>
            <a:pPr indent="0" marL="0">
              <a:buNone/>
            </a:pP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3529584" y="3035808"/>
            <a:ext cx="22402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pPr indent="0" marL="0">
              <a:buNone/>
            </a:pP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3529584" y="3296412"/>
            <a:ext cx="22402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departamento_id</a:t>
            </a:r>
            <a:pPr indent="0" marL="0">
              <a:buNone/>
            </a:pPr>
            <a:r>
              <a:rPr lang="en-US" sz="108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FK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3529584" y="3557016"/>
            <a:ext cx="22402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</a:t>
            </a:r>
            <a:pPr indent="0" marL="0">
              <a:buNone/>
            </a:pP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3383280" y="4224528"/>
            <a:ext cx="2514600" cy="2189988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12700">
            <a:solidFill>
              <a:srgbClr val="C3D0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83280" y="4224528"/>
            <a:ext cx="2514600" cy="365760"/>
          </a:xfrm>
          <a:prstGeom prst="roundRect">
            <a:avLst>
              <a:gd name="adj" fmla="val 15000"/>
            </a:avLst>
          </a:prstGeom>
          <a:solidFill>
            <a:srgbClr val="121A2B"/>
          </a:solidFill>
          <a:ln/>
        </p:spPr>
      </p:sp>
      <p:sp>
        <p:nvSpPr>
          <p:cNvPr id="38" name="Shape 36"/>
          <p:cNvSpPr/>
          <p:nvPr/>
        </p:nvSpPr>
        <p:spPr>
          <a:xfrm>
            <a:off x="3383280" y="4498848"/>
            <a:ext cx="2514600" cy="91440"/>
          </a:xfrm>
          <a:prstGeom prst="rect">
            <a:avLst/>
          </a:prstGeom>
          <a:solidFill>
            <a:srgbClr val="121A2B"/>
          </a:solidFill>
          <a:ln/>
        </p:spPr>
      </p:sp>
      <p:sp>
        <p:nvSpPr>
          <p:cNvPr id="39" name="Text 37"/>
          <p:cNvSpPr/>
          <p:nvPr/>
        </p:nvSpPr>
        <p:spPr>
          <a:xfrm>
            <a:off x="3511296" y="4224528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solicitacao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3529584" y="4590288"/>
            <a:ext cx="22402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pPr indent="0" marL="0"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PK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3529584" y="4850892"/>
            <a:ext cx="22402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titulo</a:t>
            </a:r>
            <a:pPr indent="0" marL="0">
              <a:buNone/>
            </a:pP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3529584" y="5111496"/>
            <a:ext cx="22402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descricao</a:t>
            </a:r>
            <a:pPr indent="0" marL="0">
              <a:buNone/>
            </a:pP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3529584" y="5372100"/>
            <a:ext cx="22402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autor_id</a:t>
            </a:r>
            <a:pPr indent="0" marL="0">
              <a:buNone/>
            </a:pPr>
            <a:r>
              <a:rPr lang="en-US" sz="108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FK</a:t>
            </a:r>
            <a:endParaRPr lang="en-US" sz="1080" dirty="0"/>
          </a:p>
        </p:txBody>
      </p:sp>
      <p:sp>
        <p:nvSpPr>
          <p:cNvPr id="44" name="Text 42"/>
          <p:cNvSpPr/>
          <p:nvPr/>
        </p:nvSpPr>
        <p:spPr>
          <a:xfrm>
            <a:off x="3529584" y="5632704"/>
            <a:ext cx="22402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categoria_id</a:t>
            </a:r>
            <a:pPr indent="0" marL="0">
              <a:buNone/>
            </a:pPr>
            <a:r>
              <a:rPr lang="en-US" sz="108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FK</a:t>
            </a:r>
            <a:endParaRPr lang="en-US" sz="1080" dirty="0"/>
          </a:p>
        </p:txBody>
      </p:sp>
      <p:sp>
        <p:nvSpPr>
          <p:cNvPr id="45" name="Text 43"/>
          <p:cNvSpPr/>
          <p:nvPr/>
        </p:nvSpPr>
        <p:spPr>
          <a:xfrm>
            <a:off x="3529584" y="5893308"/>
            <a:ext cx="22402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</a:t>
            </a:r>
            <a:pPr indent="0" marL="0">
              <a:buNone/>
            </a:pPr>
            <a:endParaRPr lang="en-US" sz="1080" dirty="0"/>
          </a:p>
        </p:txBody>
      </p:sp>
      <p:sp>
        <p:nvSpPr>
          <p:cNvPr id="46" name="Text 44"/>
          <p:cNvSpPr/>
          <p:nvPr/>
        </p:nvSpPr>
        <p:spPr>
          <a:xfrm>
            <a:off x="3529584" y="6153912"/>
            <a:ext cx="22402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pPr indent="0" marL="0">
              <a:buNone/>
            </a:pP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7086600" y="1737360"/>
            <a:ext cx="2514600" cy="166878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C3D0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086600" y="1737360"/>
            <a:ext cx="2514600" cy="365760"/>
          </a:xfrm>
          <a:prstGeom prst="roundRect">
            <a:avLst>
              <a:gd name="adj" fmla="val 15000"/>
            </a:avLst>
          </a:prstGeom>
          <a:solidFill>
            <a:srgbClr val="121A2B"/>
          </a:solidFill>
          <a:ln/>
        </p:spPr>
      </p:sp>
      <p:sp>
        <p:nvSpPr>
          <p:cNvPr id="49" name="Shape 47"/>
          <p:cNvSpPr/>
          <p:nvPr/>
        </p:nvSpPr>
        <p:spPr>
          <a:xfrm>
            <a:off x="7086600" y="2011680"/>
            <a:ext cx="2514600" cy="91440"/>
          </a:xfrm>
          <a:prstGeom prst="rect">
            <a:avLst/>
          </a:prstGeom>
          <a:solidFill>
            <a:srgbClr val="121A2B"/>
          </a:solidFill>
          <a:ln/>
        </p:spPr>
      </p:sp>
      <p:sp>
        <p:nvSpPr>
          <p:cNvPr id="50" name="Text 48"/>
          <p:cNvSpPr/>
          <p:nvPr/>
        </p:nvSpPr>
        <p:spPr>
          <a:xfrm>
            <a:off x="7214616" y="1737360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notificacao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7232904" y="2103120"/>
            <a:ext cx="22402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pPr indent="0" marL="0"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PK</a:t>
            </a:r>
            <a:endParaRPr lang="en-US" sz="1080" dirty="0"/>
          </a:p>
        </p:txBody>
      </p:sp>
      <p:sp>
        <p:nvSpPr>
          <p:cNvPr id="52" name="Text 50"/>
          <p:cNvSpPr/>
          <p:nvPr/>
        </p:nvSpPr>
        <p:spPr>
          <a:xfrm>
            <a:off x="7232904" y="2363724"/>
            <a:ext cx="22402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usuario_id</a:t>
            </a:r>
            <a:pPr indent="0" marL="0">
              <a:buNone/>
            </a:pPr>
            <a:r>
              <a:rPr lang="en-US" sz="108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FK</a:t>
            </a:r>
            <a:endParaRPr lang="en-US" sz="1080" dirty="0"/>
          </a:p>
        </p:txBody>
      </p:sp>
      <p:sp>
        <p:nvSpPr>
          <p:cNvPr id="53" name="Text 51"/>
          <p:cNvSpPr/>
          <p:nvPr/>
        </p:nvSpPr>
        <p:spPr>
          <a:xfrm>
            <a:off x="7232904" y="2624328"/>
            <a:ext cx="22402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solicitacao_id</a:t>
            </a:r>
            <a:pPr indent="0" marL="0">
              <a:buNone/>
            </a:pPr>
            <a:r>
              <a:rPr lang="en-US" sz="108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FK</a:t>
            </a:r>
            <a:endParaRPr lang="en-US" sz="1080" dirty="0"/>
          </a:p>
        </p:txBody>
      </p:sp>
      <p:sp>
        <p:nvSpPr>
          <p:cNvPr id="54" name="Text 52"/>
          <p:cNvSpPr/>
          <p:nvPr/>
        </p:nvSpPr>
        <p:spPr>
          <a:xfrm>
            <a:off x="7232904" y="2884932"/>
            <a:ext cx="22402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</a:t>
            </a:r>
            <a:pPr indent="0" marL="0">
              <a:buNone/>
            </a:pPr>
            <a:endParaRPr lang="en-US" sz="1080" dirty="0"/>
          </a:p>
        </p:txBody>
      </p:sp>
      <p:sp>
        <p:nvSpPr>
          <p:cNvPr id="55" name="Text 53"/>
          <p:cNvSpPr/>
          <p:nvPr/>
        </p:nvSpPr>
        <p:spPr>
          <a:xfrm>
            <a:off x="7232904" y="3145536"/>
            <a:ext cx="22402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</a:t>
            </a:r>
            <a:pPr indent="0" marL="0">
              <a:buNone/>
            </a:pPr>
            <a:endParaRPr lang="en-US" sz="1080" dirty="0"/>
          </a:p>
        </p:txBody>
      </p:sp>
      <p:sp>
        <p:nvSpPr>
          <p:cNvPr id="56" name="Shape 54"/>
          <p:cNvSpPr/>
          <p:nvPr/>
        </p:nvSpPr>
        <p:spPr>
          <a:xfrm>
            <a:off x="7086600" y="4370832"/>
            <a:ext cx="2514600" cy="1408176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C3D0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7086600" y="4370832"/>
            <a:ext cx="2514600" cy="365760"/>
          </a:xfrm>
          <a:prstGeom prst="roundRect">
            <a:avLst>
              <a:gd name="adj" fmla="val 15000"/>
            </a:avLst>
          </a:prstGeom>
          <a:solidFill>
            <a:srgbClr val="121A2B"/>
          </a:solidFill>
          <a:ln/>
        </p:spPr>
      </p:sp>
      <p:sp>
        <p:nvSpPr>
          <p:cNvPr id="58" name="Shape 56"/>
          <p:cNvSpPr/>
          <p:nvPr/>
        </p:nvSpPr>
        <p:spPr>
          <a:xfrm>
            <a:off x="7086600" y="4645152"/>
            <a:ext cx="2514600" cy="91440"/>
          </a:xfrm>
          <a:prstGeom prst="rect">
            <a:avLst/>
          </a:prstGeom>
          <a:solidFill>
            <a:srgbClr val="121A2B"/>
          </a:solidFill>
          <a:ln/>
        </p:spPr>
      </p:sp>
      <p:sp>
        <p:nvSpPr>
          <p:cNvPr id="59" name="Text 57"/>
          <p:cNvSpPr/>
          <p:nvPr/>
        </p:nvSpPr>
        <p:spPr>
          <a:xfrm>
            <a:off x="7214616" y="4370832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7232904" y="4736592"/>
            <a:ext cx="22402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pPr indent="0" marL="0"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PK</a:t>
            </a:r>
            <a:endParaRPr lang="en-US" sz="1080" dirty="0"/>
          </a:p>
        </p:txBody>
      </p:sp>
      <p:sp>
        <p:nvSpPr>
          <p:cNvPr id="61" name="Text 59"/>
          <p:cNvSpPr/>
          <p:nvPr/>
        </p:nvSpPr>
        <p:spPr>
          <a:xfrm>
            <a:off x="7232904" y="4997196"/>
            <a:ext cx="22402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solicitacao_id</a:t>
            </a:r>
            <a:pPr indent="0" marL="0">
              <a:buNone/>
            </a:pPr>
            <a:r>
              <a:rPr lang="en-US" sz="108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FK</a:t>
            </a:r>
            <a:endParaRPr lang="en-US" sz="1080" dirty="0"/>
          </a:p>
        </p:txBody>
      </p:sp>
      <p:sp>
        <p:nvSpPr>
          <p:cNvPr id="62" name="Text 60"/>
          <p:cNvSpPr/>
          <p:nvPr/>
        </p:nvSpPr>
        <p:spPr>
          <a:xfrm>
            <a:off x="7232904" y="5257800"/>
            <a:ext cx="22402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autor_id</a:t>
            </a:r>
            <a:pPr indent="0" marL="0">
              <a:buNone/>
            </a:pPr>
            <a:r>
              <a:rPr lang="en-US" sz="108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FK</a:t>
            </a:r>
            <a:endParaRPr lang="en-US" sz="1080" dirty="0"/>
          </a:p>
        </p:txBody>
      </p:sp>
      <p:sp>
        <p:nvSpPr>
          <p:cNvPr id="63" name="Text 61"/>
          <p:cNvSpPr/>
          <p:nvPr/>
        </p:nvSpPr>
        <p:spPr>
          <a:xfrm>
            <a:off x="7232904" y="5518404"/>
            <a:ext cx="22402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pPr indent="0" marL="0">
              <a:buNone/>
            </a:pPr>
            <a:endParaRPr lang="en-US" sz="1080" dirty="0"/>
          </a:p>
        </p:txBody>
      </p:sp>
      <p:sp>
        <p:nvSpPr>
          <p:cNvPr id="64" name="Text 62"/>
          <p:cNvSpPr/>
          <p:nvPr/>
        </p:nvSpPr>
        <p:spPr>
          <a:xfrm>
            <a:off x="685800" y="614476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pPr algn="ctr" indent="0" marL="0">
              <a:buNone/>
            </a:pPr>
            <a:r>
              <a:rPr lang="en-US" sz="11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chave primária      </a:t>
            </a:r>
            <a:pPr algn="ctr" indent="0" marL="0">
              <a:buNone/>
            </a:pPr>
            <a:r>
              <a:rPr lang="en-US" sz="115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pPr algn="ctr" indent="0" marL="0">
              <a:buNone/>
            </a:pPr>
            <a:r>
              <a:rPr lang="en-US" sz="11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chave estrangeira      </a:t>
            </a:r>
            <a:pPr algn="ctr" indent="0" marL="0">
              <a:buNone/>
            </a:pPr>
            <a:r>
              <a:rPr lang="en-US" sz="1150" b="1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pPr algn="ctr" indent="0" marL="0">
              <a:buNone/>
            </a:pPr>
            <a:r>
              <a:rPr lang="en-US" sz="11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relacionamento</a:t>
            </a:r>
            <a:endParaRPr lang="en-US" sz="1150" dirty="0"/>
          </a:p>
        </p:txBody>
      </p:sp>
      <p:pic>
        <p:nvPicPr>
          <p:cNvPr id="65" name="Image 0" descr="tela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37376"/>
            <a:ext cx="182880" cy="182880"/>
          </a:xfrm>
          <a:prstGeom prst="rect">
            <a:avLst/>
          </a:prstGeom>
        </p:spPr>
      </p:pic>
      <p:sp>
        <p:nvSpPr>
          <p:cNvPr id="66" name="Text 63"/>
          <p:cNvSpPr/>
          <p:nvPr/>
        </p:nvSpPr>
        <p:spPr>
          <a:xfrm>
            <a:off x="923544" y="64190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System</a:t>
            </a:r>
            <a:endParaRPr lang="en-US" sz="950" dirty="0"/>
          </a:p>
        </p:txBody>
      </p:sp>
      <p:sp>
        <p:nvSpPr>
          <p:cNvPr id="67" name="Text 64"/>
          <p:cNvSpPr/>
          <p:nvPr/>
        </p:nvSpPr>
        <p:spPr>
          <a:xfrm>
            <a:off x="3809848" y="641908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HelpSystem  ·  Desafio Scrum</a:t>
            </a:r>
            <a:endParaRPr lang="en-US" sz="950" dirty="0"/>
          </a:p>
        </p:txBody>
      </p:sp>
      <p:sp>
        <p:nvSpPr>
          <p:cNvPr id="68" name="Text 65"/>
          <p:cNvSpPr/>
          <p:nvPr/>
        </p:nvSpPr>
        <p:spPr>
          <a:xfrm>
            <a:off x="10408615" y="641908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em código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108200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Trechos reais do projeto: entidade JPA, regra de negócio e endpoint REST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4892040" cy="2945217"/>
          </a:xfrm>
          <a:prstGeom prst="roundRect">
            <a:avLst>
              <a:gd name="adj" fmla="val 2173"/>
            </a:avLst>
          </a:prstGeom>
          <a:solidFill>
            <a:srgbClr val="1B2334"/>
          </a:solidFill>
          <a:ln w="12700">
            <a:solidFill>
              <a:srgbClr val="26355A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783080"/>
            <a:ext cx="4892040" cy="329184"/>
          </a:xfrm>
          <a:prstGeom prst="roundRect">
            <a:avLst>
              <a:gd name="adj" fmla="val 19444"/>
            </a:avLst>
          </a:prstGeom>
          <a:solidFill>
            <a:srgbClr val="151B29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039112"/>
            <a:ext cx="4892040" cy="73152"/>
          </a:xfrm>
          <a:prstGeom prst="rect">
            <a:avLst/>
          </a:prstGeom>
          <a:solidFill>
            <a:srgbClr val="151B29"/>
          </a:solidFill>
          <a:ln/>
        </p:spPr>
      </p:sp>
      <p:sp>
        <p:nvSpPr>
          <p:cNvPr id="8" name="Shape 6"/>
          <p:cNvSpPr/>
          <p:nvPr/>
        </p:nvSpPr>
        <p:spPr>
          <a:xfrm>
            <a:off x="832104" y="1897380"/>
            <a:ext cx="100584" cy="100584"/>
          </a:xfrm>
          <a:prstGeom prst="ellipse">
            <a:avLst/>
          </a:prstGeom>
          <a:solidFill>
            <a:srgbClr val="E1655B"/>
          </a:solidFill>
          <a:ln/>
        </p:spPr>
      </p:sp>
      <p:sp>
        <p:nvSpPr>
          <p:cNvPr id="9" name="Shape 7"/>
          <p:cNvSpPr/>
          <p:nvPr/>
        </p:nvSpPr>
        <p:spPr>
          <a:xfrm>
            <a:off x="978408" y="1897380"/>
            <a:ext cx="100584" cy="100584"/>
          </a:xfrm>
          <a:prstGeom prst="ellipse">
            <a:avLst/>
          </a:prstGeom>
          <a:solidFill>
            <a:srgbClr val="E0A23B"/>
          </a:solidFill>
          <a:ln/>
        </p:spPr>
      </p:sp>
      <p:sp>
        <p:nvSpPr>
          <p:cNvPr id="10" name="Shape 8"/>
          <p:cNvSpPr/>
          <p:nvPr/>
        </p:nvSpPr>
        <p:spPr>
          <a:xfrm>
            <a:off x="1124712" y="1897380"/>
            <a:ext cx="100584" cy="100584"/>
          </a:xfrm>
          <a:prstGeom prst="ellipse">
            <a:avLst/>
          </a:prstGeom>
          <a:solidFill>
            <a:srgbClr val="57A863"/>
          </a:solidFill>
          <a:ln/>
        </p:spPr>
      </p:sp>
      <p:sp>
        <p:nvSpPr>
          <p:cNvPr id="11" name="Text 9"/>
          <p:cNvSpPr/>
          <p:nvPr/>
        </p:nvSpPr>
        <p:spPr>
          <a:xfrm>
            <a:off x="1289304" y="178308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model/Solicitacao.java</a:t>
            </a:r>
            <a:endParaRPr lang="en-US" sz="1050" dirty="0"/>
          </a:p>
        </p:txBody>
      </p:sp>
      <p:pic>
        <p:nvPicPr>
          <p:cNvPr id="12" name="Image 0" descr="code/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167128"/>
            <a:ext cx="4672584" cy="2433153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85800" y="3977640"/>
            <a:ext cx="4892040" cy="2173743"/>
          </a:xfrm>
          <a:prstGeom prst="roundRect">
            <a:avLst>
              <a:gd name="adj" fmla="val 2945"/>
            </a:avLst>
          </a:prstGeom>
          <a:solidFill>
            <a:srgbClr val="1B2334"/>
          </a:solidFill>
          <a:ln w="12700">
            <a:solidFill>
              <a:srgbClr val="26355A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5800" y="3977640"/>
            <a:ext cx="4892040" cy="329184"/>
          </a:xfrm>
          <a:prstGeom prst="roundRect">
            <a:avLst>
              <a:gd name="adj" fmla="val 19444"/>
            </a:avLst>
          </a:prstGeom>
          <a:solidFill>
            <a:srgbClr val="151B29"/>
          </a:solidFill>
          <a:ln/>
        </p:spPr>
      </p:sp>
      <p:sp>
        <p:nvSpPr>
          <p:cNvPr id="15" name="Shape 12"/>
          <p:cNvSpPr/>
          <p:nvPr/>
        </p:nvSpPr>
        <p:spPr>
          <a:xfrm>
            <a:off x="685800" y="4233672"/>
            <a:ext cx="4892040" cy="73152"/>
          </a:xfrm>
          <a:prstGeom prst="rect">
            <a:avLst/>
          </a:prstGeom>
          <a:solidFill>
            <a:srgbClr val="151B29"/>
          </a:solidFill>
          <a:ln/>
        </p:spPr>
      </p:sp>
      <p:sp>
        <p:nvSpPr>
          <p:cNvPr id="16" name="Shape 13"/>
          <p:cNvSpPr/>
          <p:nvPr/>
        </p:nvSpPr>
        <p:spPr>
          <a:xfrm>
            <a:off x="832104" y="4091940"/>
            <a:ext cx="100584" cy="100584"/>
          </a:xfrm>
          <a:prstGeom prst="ellipse">
            <a:avLst/>
          </a:prstGeom>
          <a:solidFill>
            <a:srgbClr val="E1655B"/>
          </a:solidFill>
          <a:ln/>
        </p:spPr>
      </p:sp>
      <p:sp>
        <p:nvSpPr>
          <p:cNvPr id="17" name="Shape 14"/>
          <p:cNvSpPr/>
          <p:nvPr/>
        </p:nvSpPr>
        <p:spPr>
          <a:xfrm>
            <a:off x="978408" y="4091940"/>
            <a:ext cx="100584" cy="100584"/>
          </a:xfrm>
          <a:prstGeom prst="ellipse">
            <a:avLst/>
          </a:prstGeom>
          <a:solidFill>
            <a:srgbClr val="E0A23B"/>
          </a:solidFill>
          <a:ln/>
        </p:spPr>
      </p:sp>
      <p:sp>
        <p:nvSpPr>
          <p:cNvPr id="18" name="Shape 15"/>
          <p:cNvSpPr/>
          <p:nvPr/>
        </p:nvSpPr>
        <p:spPr>
          <a:xfrm>
            <a:off x="1124712" y="4091940"/>
            <a:ext cx="100584" cy="100584"/>
          </a:xfrm>
          <a:prstGeom prst="ellipse">
            <a:avLst/>
          </a:prstGeom>
          <a:solidFill>
            <a:srgbClr val="57A863"/>
          </a:solidFill>
          <a:ln/>
        </p:spPr>
      </p:sp>
      <p:sp>
        <p:nvSpPr>
          <p:cNvPr id="19" name="Text 16"/>
          <p:cNvSpPr/>
          <p:nvPr/>
        </p:nvSpPr>
        <p:spPr>
          <a:xfrm>
            <a:off x="1289304" y="397764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service/SolicitacaoService.java</a:t>
            </a:r>
            <a:endParaRPr lang="en-US" sz="1050" dirty="0"/>
          </a:p>
        </p:txBody>
      </p:sp>
      <p:pic>
        <p:nvPicPr>
          <p:cNvPr id="20" name="Image 1" descr="code/s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361688"/>
            <a:ext cx="4672584" cy="1661679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989320" y="1783080"/>
            <a:ext cx="5532120" cy="2202810"/>
          </a:xfrm>
          <a:prstGeom prst="roundRect">
            <a:avLst>
              <a:gd name="adj" fmla="val 2906"/>
            </a:avLst>
          </a:prstGeom>
          <a:solidFill>
            <a:srgbClr val="1B2334"/>
          </a:solidFill>
          <a:ln w="12700">
            <a:solidFill>
              <a:srgbClr val="26355A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989320" y="1783080"/>
            <a:ext cx="5532120" cy="329184"/>
          </a:xfrm>
          <a:prstGeom prst="roundRect">
            <a:avLst>
              <a:gd name="adj" fmla="val 19444"/>
            </a:avLst>
          </a:prstGeom>
          <a:solidFill>
            <a:srgbClr val="151B29"/>
          </a:solidFill>
          <a:ln/>
        </p:spPr>
      </p:sp>
      <p:sp>
        <p:nvSpPr>
          <p:cNvPr id="23" name="Shape 19"/>
          <p:cNvSpPr/>
          <p:nvPr/>
        </p:nvSpPr>
        <p:spPr>
          <a:xfrm>
            <a:off x="5989320" y="2039112"/>
            <a:ext cx="5532120" cy="73152"/>
          </a:xfrm>
          <a:prstGeom prst="rect">
            <a:avLst/>
          </a:prstGeom>
          <a:solidFill>
            <a:srgbClr val="151B29"/>
          </a:solidFill>
          <a:ln/>
        </p:spPr>
      </p:sp>
      <p:sp>
        <p:nvSpPr>
          <p:cNvPr id="24" name="Shape 20"/>
          <p:cNvSpPr/>
          <p:nvPr/>
        </p:nvSpPr>
        <p:spPr>
          <a:xfrm>
            <a:off x="6135624" y="1897380"/>
            <a:ext cx="100584" cy="100584"/>
          </a:xfrm>
          <a:prstGeom prst="ellipse">
            <a:avLst/>
          </a:prstGeom>
          <a:solidFill>
            <a:srgbClr val="E1655B"/>
          </a:solidFill>
          <a:ln/>
        </p:spPr>
      </p:sp>
      <p:sp>
        <p:nvSpPr>
          <p:cNvPr id="25" name="Shape 21"/>
          <p:cNvSpPr/>
          <p:nvPr/>
        </p:nvSpPr>
        <p:spPr>
          <a:xfrm>
            <a:off x="6281928" y="1897380"/>
            <a:ext cx="100584" cy="100584"/>
          </a:xfrm>
          <a:prstGeom prst="ellipse">
            <a:avLst/>
          </a:prstGeom>
          <a:solidFill>
            <a:srgbClr val="E0A23B"/>
          </a:solidFill>
          <a:ln/>
        </p:spPr>
      </p:sp>
      <p:sp>
        <p:nvSpPr>
          <p:cNvPr id="26" name="Shape 22"/>
          <p:cNvSpPr/>
          <p:nvPr/>
        </p:nvSpPr>
        <p:spPr>
          <a:xfrm>
            <a:off x="6428232" y="1897380"/>
            <a:ext cx="100584" cy="100584"/>
          </a:xfrm>
          <a:prstGeom prst="ellipse">
            <a:avLst/>
          </a:prstGeom>
          <a:solidFill>
            <a:srgbClr val="57A863"/>
          </a:solidFill>
          <a:ln/>
        </p:spPr>
      </p:sp>
      <p:sp>
        <p:nvSpPr>
          <p:cNvPr id="27" name="Text 23"/>
          <p:cNvSpPr/>
          <p:nvPr/>
        </p:nvSpPr>
        <p:spPr>
          <a:xfrm>
            <a:off x="6592824" y="178308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web/AuthController.java</a:t>
            </a:r>
            <a:endParaRPr lang="en-US" sz="1050" dirty="0"/>
          </a:p>
        </p:txBody>
      </p:sp>
      <p:pic>
        <p:nvPicPr>
          <p:cNvPr id="28" name="Image 2" descr="code/s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2167128"/>
            <a:ext cx="5312664" cy="169074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989320" y="4214490"/>
            <a:ext cx="5532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em todas as camadas: o service retorna um ResultadoOperacao (sucesso, mensagem e dado) e o controller o traduz em resposta HTTP com o status correto.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PROCESSO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Divisão de tarefas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8200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Scrum e frentes de trabalho da equipe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4160520" cy="4343400"/>
          </a:xfrm>
          <a:prstGeom prst="roundRect">
            <a:avLst>
              <a:gd name="adj" fmla="val 2198"/>
            </a:avLst>
          </a:prstGeom>
          <a:solidFill>
            <a:srgbClr val="121A2B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9848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69848" y="26243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176D3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258775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600200" y="289864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e cerimônias ágeis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69848" y="35021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176D3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346557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sprints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00200" y="377647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incrementais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69848" y="437997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176D3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434340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600200" y="465429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ao fim de cada sprint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69848" y="52578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176D3"/>
          </a:solidFill>
          <a:ln/>
        </p:spPr>
      </p:sp>
      <p:sp>
        <p:nvSpPr>
          <p:cNvPr id="18" name="Text 16"/>
          <p:cNvSpPr/>
          <p:nvPr/>
        </p:nvSpPr>
        <p:spPr>
          <a:xfrm>
            <a:off x="1600200" y="522122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Master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600200" y="553212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— facilita e acompanha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303520" y="184708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Frentes de trabalho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3520" y="2331720"/>
            <a:ext cx="621792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32120" y="2651760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2E844A"/>
          </a:solidFill>
          <a:ln/>
        </p:spPr>
      </p:sp>
      <p:sp>
        <p:nvSpPr>
          <p:cNvPr id="23" name="Text 21"/>
          <p:cNvSpPr/>
          <p:nvPr/>
        </p:nvSpPr>
        <p:spPr>
          <a:xfrm>
            <a:off x="5532120" y="2651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99632" y="256946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Banco de Dados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199632" y="297180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Lucas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104120" y="2697480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E7F3EA"/>
          </a:solidFill>
          <a:ln/>
        </p:spPr>
      </p:sp>
      <p:sp>
        <p:nvSpPr>
          <p:cNvPr id="27" name="Text 25"/>
          <p:cNvSpPr/>
          <p:nvPr/>
        </p:nvSpPr>
        <p:spPr>
          <a:xfrm>
            <a:off x="10104120" y="26974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303520" y="3611880"/>
            <a:ext cx="621792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32120" y="3931920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0176D3"/>
          </a:solidFill>
          <a:ln/>
        </p:spPr>
      </p:sp>
      <p:sp>
        <p:nvSpPr>
          <p:cNvPr id="30" name="Text 28"/>
          <p:cNvSpPr/>
          <p:nvPr/>
        </p:nvSpPr>
        <p:spPr>
          <a:xfrm>
            <a:off x="5532120" y="3931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199632" y="384962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&amp; Integração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199632" y="425196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Equipe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104120" y="3977640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E8F2FC"/>
          </a:solidFill>
          <a:ln/>
        </p:spPr>
      </p:sp>
      <p:sp>
        <p:nvSpPr>
          <p:cNvPr id="34" name="Text 32"/>
          <p:cNvSpPr/>
          <p:nvPr/>
        </p:nvSpPr>
        <p:spPr>
          <a:xfrm>
            <a:off x="10104120" y="39776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303520" y="4892040"/>
            <a:ext cx="621792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532120" y="5212080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/>
        </p:spPr>
      </p:sp>
      <p:sp>
        <p:nvSpPr>
          <p:cNvPr id="37" name="Text 35"/>
          <p:cNvSpPr/>
          <p:nvPr/>
        </p:nvSpPr>
        <p:spPr>
          <a:xfrm>
            <a:off x="5532120" y="52120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199632" y="512978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&amp; Documentação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199632" y="553212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Equipe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104120" y="5257800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E8F2FC"/>
          </a:solidFill>
          <a:ln/>
        </p:spPr>
      </p:sp>
      <p:sp>
        <p:nvSpPr>
          <p:cNvPr id="41" name="Text 39"/>
          <p:cNvSpPr/>
          <p:nvPr/>
        </p:nvSpPr>
        <p:spPr>
          <a:xfrm>
            <a:off x="10104120" y="52578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150" dirty="0"/>
          </a:p>
        </p:txBody>
      </p:sp>
      <p:pic>
        <p:nvPicPr>
          <p:cNvPr id="42" name="Image 0" descr="tela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37376"/>
            <a:ext cx="182880" cy="18288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923544" y="64190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System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3809848" y="641908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HelpSystem  ·  Desafio Scrum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10408615" y="641908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EQUIPE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Tarefas — Lucas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8200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Contribuições de Lucas no projeto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83080" y="2194560"/>
            <a:ext cx="1234440" cy="1234440"/>
          </a:xfrm>
          <a:prstGeom prst="ellipse">
            <a:avLst/>
          </a:prstGeom>
          <a:solidFill>
            <a:srgbClr val="2E844A"/>
          </a:solidFill>
          <a:ln/>
        </p:spPr>
      </p:sp>
      <p:sp>
        <p:nvSpPr>
          <p:cNvPr id="8" name="Text 6"/>
          <p:cNvSpPr/>
          <p:nvPr/>
        </p:nvSpPr>
        <p:spPr>
          <a:xfrm>
            <a:off x="1783080" y="219456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3063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Lucas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409651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Banco de Dados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783080"/>
            <a:ext cx="71323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76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Banco de Dados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2514600"/>
            <a:ext cx="6583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e criação do banco MySQL (tabelas, relacionamentos e script SQL)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JPA e repositórios com Spring Data JPA / Hibernate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e segurança: login, hash com BCrypt e sessão por token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 por tipo de usuário (Administrador / Comum)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negócio: solicitações, categorias e usuários (services)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em Spring Boot e testes de ponta a ponta no Postman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do backend (Railway) e integração com o front-end</a:t>
            </a:r>
            <a:endParaRPr lang="en-US" sz="1400" dirty="0"/>
          </a:p>
        </p:txBody>
      </p:sp>
      <p:pic>
        <p:nvPicPr>
          <p:cNvPr id="14" name="Image 0" descr="tela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37376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23544" y="64190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System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809848" y="641908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HelpSystem  ·  Desafio Scrum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408615" y="641908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EQUIPE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Tarefas — Renato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8200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reservado para o membro preencher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83080" y="2194560"/>
            <a:ext cx="1234440" cy="1234440"/>
          </a:xfrm>
          <a:prstGeom prst="ellipse">
            <a:avLst/>
          </a:prstGeom>
          <a:solidFill>
            <a:srgbClr val="0176D3"/>
          </a:solidFill>
          <a:ln/>
        </p:spPr>
      </p:sp>
      <p:sp>
        <p:nvSpPr>
          <p:cNvPr id="8" name="Text 6"/>
          <p:cNvSpPr/>
          <p:nvPr/>
        </p:nvSpPr>
        <p:spPr>
          <a:xfrm>
            <a:off x="1783080" y="219456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3063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Renato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409651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 da equipe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783080"/>
            <a:ext cx="71323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2084832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77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preencher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5F8FC"/>
          </a:solidFill>
          <a:ln w="17780">
            <a:solidFill>
              <a:srgbClr val="E4E9F1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193792" y="2880360"/>
            <a:ext cx="5989320" cy="0"/>
          </a:xfrm>
          <a:prstGeom prst="line">
            <a:avLst/>
          </a:prstGeom>
          <a:noFill/>
          <a:ln w="15240">
            <a:solidFill>
              <a:srgbClr val="E4E9F1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754880" y="34015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5F8FC"/>
          </a:solidFill>
          <a:ln w="17780">
            <a:solidFill>
              <a:srgbClr val="E4E9F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193792" y="3538728"/>
            <a:ext cx="5989320" cy="0"/>
          </a:xfrm>
          <a:prstGeom prst="line">
            <a:avLst/>
          </a:prstGeom>
          <a:noFill/>
          <a:ln w="15240">
            <a:solidFill>
              <a:srgbClr val="E4E9F1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754880" y="405993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5F8FC"/>
          </a:solidFill>
          <a:ln w="17780">
            <a:solidFill>
              <a:srgbClr val="E4E9F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193792" y="4197096"/>
            <a:ext cx="5989320" cy="0"/>
          </a:xfrm>
          <a:prstGeom prst="line">
            <a:avLst/>
          </a:prstGeom>
          <a:noFill/>
          <a:ln w="15240">
            <a:solidFill>
              <a:srgbClr val="E4E9F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754880" y="47183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5F8FC"/>
          </a:solidFill>
          <a:ln w="17780">
            <a:solidFill>
              <a:srgbClr val="E4E9F1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193792" y="4855464"/>
            <a:ext cx="5989320" cy="0"/>
          </a:xfrm>
          <a:prstGeom prst="line">
            <a:avLst/>
          </a:prstGeom>
          <a:noFill/>
          <a:ln w="15240">
            <a:solidFill>
              <a:srgbClr val="E4E9F1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54880" y="5440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membro adiciona aqui as tarefas e entregas pelas quais foi responsável.</a:t>
            </a:r>
            <a:endParaRPr lang="en-US" sz="1200" dirty="0"/>
          </a:p>
        </p:txBody>
      </p:sp>
      <p:pic>
        <p:nvPicPr>
          <p:cNvPr id="22" name="Image 0" descr="tela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37376"/>
            <a:ext cx="182880" cy="1828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23544" y="64190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System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809848" y="641908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HelpSystem  ·  Desafio Scrum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0408615" y="641908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EQUIPE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Tarefas — Sakiri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8200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reservado para o membro preencher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83080" y="2194560"/>
            <a:ext cx="1234440" cy="1234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783080" y="219456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3063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Sakiri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409651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 da equipe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783080"/>
            <a:ext cx="71323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2084832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77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preencher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5F8FC"/>
          </a:solidFill>
          <a:ln w="17780">
            <a:solidFill>
              <a:srgbClr val="E4E9F1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193792" y="2880360"/>
            <a:ext cx="5989320" cy="0"/>
          </a:xfrm>
          <a:prstGeom prst="line">
            <a:avLst/>
          </a:prstGeom>
          <a:noFill/>
          <a:ln w="15240">
            <a:solidFill>
              <a:srgbClr val="E4E9F1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754880" y="34015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5F8FC"/>
          </a:solidFill>
          <a:ln w="17780">
            <a:solidFill>
              <a:srgbClr val="E4E9F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193792" y="3538728"/>
            <a:ext cx="5989320" cy="0"/>
          </a:xfrm>
          <a:prstGeom prst="line">
            <a:avLst/>
          </a:prstGeom>
          <a:noFill/>
          <a:ln w="15240">
            <a:solidFill>
              <a:srgbClr val="E4E9F1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754880" y="405993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5F8FC"/>
          </a:solidFill>
          <a:ln w="17780">
            <a:solidFill>
              <a:srgbClr val="E4E9F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193792" y="4197096"/>
            <a:ext cx="5989320" cy="0"/>
          </a:xfrm>
          <a:prstGeom prst="line">
            <a:avLst/>
          </a:prstGeom>
          <a:noFill/>
          <a:ln w="15240">
            <a:solidFill>
              <a:srgbClr val="E4E9F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754880" y="47183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5F8FC"/>
          </a:solidFill>
          <a:ln w="17780">
            <a:solidFill>
              <a:srgbClr val="E4E9F1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193792" y="4855464"/>
            <a:ext cx="5989320" cy="0"/>
          </a:xfrm>
          <a:prstGeom prst="line">
            <a:avLst/>
          </a:prstGeom>
          <a:noFill/>
          <a:ln w="15240">
            <a:solidFill>
              <a:srgbClr val="E4E9F1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54880" y="5440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membro adiciona aqui as tarefas e entregas pelas quais foi responsável.</a:t>
            </a:r>
            <a:endParaRPr lang="en-US" sz="1200" dirty="0"/>
          </a:p>
        </p:txBody>
      </p:sp>
      <p:pic>
        <p:nvPicPr>
          <p:cNvPr id="22" name="Image 0" descr="tela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37376"/>
            <a:ext cx="182880" cy="1828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23544" y="64190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System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809848" y="641908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HelpSystem  ·  Desafio Scrum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0408615" y="641908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EQUIPE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Tarefas — Felipe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8200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reservado para o membro preencher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83080" y="2194560"/>
            <a:ext cx="1234440" cy="123444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1783080" y="219456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3063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Felipe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409651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 da equipe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783080"/>
            <a:ext cx="71323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2084832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77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preencher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5F8FC"/>
          </a:solidFill>
          <a:ln w="17780">
            <a:solidFill>
              <a:srgbClr val="E4E9F1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193792" y="2880360"/>
            <a:ext cx="5989320" cy="0"/>
          </a:xfrm>
          <a:prstGeom prst="line">
            <a:avLst/>
          </a:prstGeom>
          <a:noFill/>
          <a:ln w="15240">
            <a:solidFill>
              <a:srgbClr val="E4E9F1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754880" y="34015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5F8FC"/>
          </a:solidFill>
          <a:ln w="17780">
            <a:solidFill>
              <a:srgbClr val="E4E9F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193792" y="3538728"/>
            <a:ext cx="5989320" cy="0"/>
          </a:xfrm>
          <a:prstGeom prst="line">
            <a:avLst/>
          </a:prstGeom>
          <a:noFill/>
          <a:ln w="15240">
            <a:solidFill>
              <a:srgbClr val="E4E9F1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754880" y="405993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5F8FC"/>
          </a:solidFill>
          <a:ln w="17780">
            <a:solidFill>
              <a:srgbClr val="E4E9F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193792" y="4197096"/>
            <a:ext cx="5989320" cy="0"/>
          </a:xfrm>
          <a:prstGeom prst="line">
            <a:avLst/>
          </a:prstGeom>
          <a:noFill/>
          <a:ln w="15240">
            <a:solidFill>
              <a:srgbClr val="E4E9F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754880" y="47183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5F8FC"/>
          </a:solidFill>
          <a:ln w="17780">
            <a:solidFill>
              <a:srgbClr val="E4E9F1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193792" y="4855464"/>
            <a:ext cx="5989320" cy="0"/>
          </a:xfrm>
          <a:prstGeom prst="line">
            <a:avLst/>
          </a:prstGeom>
          <a:noFill/>
          <a:ln w="15240">
            <a:solidFill>
              <a:srgbClr val="E4E9F1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54880" y="5440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membro adiciona aqui as tarefas e entregas pelas quais foi responsável.</a:t>
            </a:r>
            <a:endParaRPr lang="en-US" sz="1200" dirty="0"/>
          </a:p>
        </p:txBody>
      </p:sp>
      <p:pic>
        <p:nvPicPr>
          <p:cNvPr id="22" name="Image 0" descr="tela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37376"/>
            <a:ext cx="182880" cy="1828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23544" y="64190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System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809848" y="641908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HelpSystem  ·  Desafio Scrum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0408615" y="641908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PRODUTO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Telas do sistema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8200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Prévia do fluxo do usuário — a substituir pelas capturas oficiais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2560320" cy="2683707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2304288"/>
            <a:ext cx="2523744" cy="256032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391156"/>
            <a:ext cx="77724" cy="77724"/>
          </a:xfrm>
          <a:prstGeom prst="ellipse">
            <a:avLst/>
          </a:prstGeom>
          <a:solidFill>
            <a:srgbClr val="D96C64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" y="2391156"/>
            <a:ext cx="77724" cy="77724"/>
          </a:xfrm>
          <a:prstGeom prst="ellipse">
            <a:avLst/>
          </a:prstGeom>
          <a:solidFill>
            <a:srgbClr val="E0A23B"/>
          </a:solidFill>
          <a:ln/>
        </p:spPr>
      </p:sp>
      <p:sp>
        <p:nvSpPr>
          <p:cNvPr id="10" name="Shape 8"/>
          <p:cNvSpPr/>
          <p:nvPr/>
        </p:nvSpPr>
        <p:spPr>
          <a:xfrm>
            <a:off x="1060704" y="2391156"/>
            <a:ext cx="77724" cy="77724"/>
          </a:xfrm>
          <a:prstGeom prst="ellipse">
            <a:avLst/>
          </a:prstGeom>
          <a:solidFill>
            <a:srgbClr val="57A863"/>
          </a:solidFill>
          <a:ln/>
        </p:spPr>
      </p:sp>
      <p:pic>
        <p:nvPicPr>
          <p:cNvPr id="11" name="Image 0" descr="telas/ui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06040"/>
            <a:ext cx="2377440" cy="195218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95528" y="4603947"/>
            <a:ext cx="2340864" cy="0"/>
          </a:xfrm>
          <a:prstGeom prst="line">
            <a:avLst/>
          </a:prstGeom>
          <a:noFill/>
          <a:ln w="9525">
            <a:solidFill>
              <a:srgbClr val="E4E9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3816" y="4622235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solicitações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10712" y="2286000"/>
            <a:ext cx="2560320" cy="2678733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29000" y="2304288"/>
            <a:ext cx="2523744" cy="256032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16" name="Shape 13"/>
          <p:cNvSpPr/>
          <p:nvPr/>
        </p:nvSpPr>
        <p:spPr>
          <a:xfrm>
            <a:off x="3547872" y="2391156"/>
            <a:ext cx="77724" cy="77724"/>
          </a:xfrm>
          <a:prstGeom prst="ellipse">
            <a:avLst/>
          </a:prstGeom>
          <a:solidFill>
            <a:srgbClr val="D96C64"/>
          </a:solidFill>
          <a:ln/>
        </p:spPr>
      </p:sp>
      <p:sp>
        <p:nvSpPr>
          <p:cNvPr id="17" name="Shape 14"/>
          <p:cNvSpPr/>
          <p:nvPr/>
        </p:nvSpPr>
        <p:spPr>
          <a:xfrm>
            <a:off x="3666744" y="2391156"/>
            <a:ext cx="77724" cy="77724"/>
          </a:xfrm>
          <a:prstGeom prst="ellipse">
            <a:avLst/>
          </a:prstGeom>
          <a:solidFill>
            <a:srgbClr val="E0A23B"/>
          </a:solidFill>
          <a:ln/>
        </p:spPr>
      </p:sp>
      <p:sp>
        <p:nvSpPr>
          <p:cNvPr id="18" name="Shape 15"/>
          <p:cNvSpPr/>
          <p:nvPr/>
        </p:nvSpPr>
        <p:spPr>
          <a:xfrm>
            <a:off x="3785616" y="2391156"/>
            <a:ext cx="77724" cy="77724"/>
          </a:xfrm>
          <a:prstGeom prst="ellipse">
            <a:avLst/>
          </a:prstGeom>
          <a:solidFill>
            <a:srgbClr val="57A863"/>
          </a:solidFill>
          <a:ln/>
        </p:spPr>
      </p:sp>
      <p:pic>
        <p:nvPicPr>
          <p:cNvPr id="19" name="Image 1" descr="telas/ui-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2606040"/>
            <a:ext cx="2377440" cy="1947213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3520440" y="4598973"/>
            <a:ext cx="2340864" cy="0"/>
          </a:xfrm>
          <a:prstGeom prst="line">
            <a:avLst/>
          </a:prstGeom>
          <a:noFill/>
          <a:ln w="9525">
            <a:solidFill>
              <a:srgbClr val="E4E9F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538728" y="4617261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solicitação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135624" y="2286000"/>
            <a:ext cx="2560320" cy="2683707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53912" y="2304288"/>
            <a:ext cx="2523744" cy="256032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24" name="Shape 20"/>
          <p:cNvSpPr/>
          <p:nvPr/>
        </p:nvSpPr>
        <p:spPr>
          <a:xfrm>
            <a:off x="6272784" y="2391156"/>
            <a:ext cx="77724" cy="77724"/>
          </a:xfrm>
          <a:prstGeom prst="ellipse">
            <a:avLst/>
          </a:prstGeom>
          <a:solidFill>
            <a:srgbClr val="D96C64"/>
          </a:solidFill>
          <a:ln/>
        </p:spPr>
      </p:sp>
      <p:sp>
        <p:nvSpPr>
          <p:cNvPr id="25" name="Shape 21"/>
          <p:cNvSpPr/>
          <p:nvPr/>
        </p:nvSpPr>
        <p:spPr>
          <a:xfrm>
            <a:off x="6391656" y="2391156"/>
            <a:ext cx="77724" cy="77724"/>
          </a:xfrm>
          <a:prstGeom prst="ellipse">
            <a:avLst/>
          </a:prstGeom>
          <a:solidFill>
            <a:srgbClr val="E0A23B"/>
          </a:solidFill>
          <a:ln/>
        </p:spPr>
      </p:sp>
      <p:sp>
        <p:nvSpPr>
          <p:cNvPr id="26" name="Shape 22"/>
          <p:cNvSpPr/>
          <p:nvPr/>
        </p:nvSpPr>
        <p:spPr>
          <a:xfrm>
            <a:off x="6510528" y="2391156"/>
            <a:ext cx="77724" cy="77724"/>
          </a:xfrm>
          <a:prstGeom prst="ellipse">
            <a:avLst/>
          </a:prstGeom>
          <a:solidFill>
            <a:srgbClr val="57A863"/>
          </a:solidFill>
          <a:ln/>
        </p:spPr>
      </p:sp>
      <p:pic>
        <p:nvPicPr>
          <p:cNvPr id="27" name="Image 2" descr="telas/ui-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606040"/>
            <a:ext cx="2377440" cy="1952187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6245352" y="4603947"/>
            <a:ext cx="2340864" cy="0"/>
          </a:xfrm>
          <a:prstGeom prst="line">
            <a:avLst/>
          </a:prstGeom>
          <a:noFill/>
          <a:ln w="9525">
            <a:solidFill>
              <a:srgbClr val="E4E9F1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263640" y="4622235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 e respostas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8860536" y="2286000"/>
            <a:ext cx="2560320" cy="2678733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127000" dist="38100" dir="5400000">
              <a:srgbClr val="9AAEC6">
                <a:alpha val="3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8878824" y="2304288"/>
            <a:ext cx="2523744" cy="256032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32" name="Shape 27"/>
          <p:cNvSpPr/>
          <p:nvPr/>
        </p:nvSpPr>
        <p:spPr>
          <a:xfrm>
            <a:off x="8997696" y="2391156"/>
            <a:ext cx="77724" cy="77724"/>
          </a:xfrm>
          <a:prstGeom prst="ellipse">
            <a:avLst/>
          </a:prstGeom>
          <a:solidFill>
            <a:srgbClr val="D96C64"/>
          </a:solidFill>
          <a:ln/>
        </p:spPr>
      </p:sp>
      <p:sp>
        <p:nvSpPr>
          <p:cNvPr id="33" name="Shape 28"/>
          <p:cNvSpPr/>
          <p:nvPr/>
        </p:nvSpPr>
        <p:spPr>
          <a:xfrm>
            <a:off x="9116568" y="2391156"/>
            <a:ext cx="77724" cy="77724"/>
          </a:xfrm>
          <a:prstGeom prst="ellipse">
            <a:avLst/>
          </a:prstGeom>
          <a:solidFill>
            <a:srgbClr val="E0A23B"/>
          </a:solidFill>
          <a:ln/>
        </p:spPr>
      </p:sp>
      <p:sp>
        <p:nvSpPr>
          <p:cNvPr id="34" name="Shape 29"/>
          <p:cNvSpPr/>
          <p:nvPr/>
        </p:nvSpPr>
        <p:spPr>
          <a:xfrm>
            <a:off x="9235440" y="2391156"/>
            <a:ext cx="77724" cy="77724"/>
          </a:xfrm>
          <a:prstGeom prst="ellipse">
            <a:avLst/>
          </a:prstGeom>
          <a:solidFill>
            <a:srgbClr val="57A863"/>
          </a:solidFill>
          <a:ln/>
        </p:spPr>
      </p:sp>
      <p:pic>
        <p:nvPicPr>
          <p:cNvPr id="35" name="Image 3" descr="telas/ui-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976" y="2606040"/>
            <a:ext cx="2377440" cy="1947213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8970264" y="4598973"/>
            <a:ext cx="2340864" cy="0"/>
          </a:xfrm>
          <a:prstGeom prst="line">
            <a:avLst/>
          </a:prstGeom>
          <a:noFill/>
          <a:ln w="9525">
            <a:solidFill>
              <a:srgbClr val="E4E9F1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8988552" y="4617261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(admin)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685800" y="5394960"/>
            <a:ext cx="108200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imagens acima são prévias de referência e serão trocadas pelas capturas reais do sistema.</a:t>
            </a:r>
            <a:endParaRPr lang="en-US" sz="1150" dirty="0"/>
          </a:p>
        </p:txBody>
      </p:sp>
      <p:pic>
        <p:nvPicPr>
          <p:cNvPr id="39" name="Image 4" descr="tela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6437376"/>
            <a:ext cx="182880" cy="18288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23544" y="64190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System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3809848" y="641908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HelpSystem  ·  Desafio Scrum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10408615" y="641908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931920"/>
            <a:ext cx="4937760" cy="4937760"/>
          </a:xfrm>
          <a:prstGeom prst="ellipse">
            <a:avLst/>
          </a:prstGeom>
          <a:solidFill>
            <a:srgbClr val="1C2740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2194560"/>
            <a:ext cx="4937760" cy="4937760"/>
          </a:xfrm>
          <a:prstGeom prst="ellipse">
            <a:avLst/>
          </a:prstGeom>
          <a:solidFill>
            <a:srgbClr val="1C2740"/>
          </a:solidFill>
          <a:ln/>
        </p:spPr>
      </p:sp>
      <p:pic>
        <p:nvPicPr>
          <p:cNvPr id="4" name="Image 0" descr="tela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09928" y="1417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85800" y="251460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HelpSystem — um fórum interno para perguntar, responder e resolver em equipe.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85800" y="3429000"/>
            <a:ext cx="3456432" cy="1463040"/>
          </a:xfrm>
          <a:prstGeom prst="roundRect">
            <a:avLst>
              <a:gd name="adj" fmla="val 6250"/>
            </a:avLst>
          </a:prstGeom>
          <a:solidFill>
            <a:srgbClr val="1C2740"/>
          </a:solidFill>
          <a:ln w="12700">
            <a:solidFill>
              <a:srgbClr val="2635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78408" y="367588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76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78408" y="4169664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 e em deploy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15968" y="3429000"/>
            <a:ext cx="3456432" cy="1463040"/>
          </a:xfrm>
          <a:prstGeom prst="roundRect">
            <a:avLst>
              <a:gd name="adj" fmla="val 6250"/>
            </a:avLst>
          </a:prstGeom>
          <a:solidFill>
            <a:srgbClr val="1C2740"/>
          </a:solidFill>
          <a:ln w="12700">
            <a:solidFill>
              <a:srgbClr val="2635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08576" y="367588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76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de dados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608576" y="4169664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e populado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946136" y="3429000"/>
            <a:ext cx="3456432" cy="1463040"/>
          </a:xfrm>
          <a:prstGeom prst="roundRect">
            <a:avLst>
              <a:gd name="adj" fmla="val 6250"/>
            </a:avLst>
          </a:prstGeom>
          <a:solidFill>
            <a:srgbClr val="1C2740"/>
          </a:solidFill>
          <a:ln w="12700">
            <a:solidFill>
              <a:srgbClr val="2635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38744" y="367588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76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238744" y="4169664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via API REST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85800" y="5806440"/>
            <a:ext cx="10820095" cy="0"/>
          </a:xfrm>
          <a:prstGeom prst="line">
            <a:avLst/>
          </a:prstGeom>
          <a:noFill/>
          <a:ln w="12700">
            <a:solidFill>
              <a:srgbClr val="2635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  </a:t>
            </a:r>
            <a:pPr indent="0" marL="0">
              <a:buNone/>
            </a:pPr>
            <a:r>
              <a:rPr lang="en-US" sz="1400" dirty="0">
                <a:solidFill>
                  <a:srgbClr val="C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· Renato · Sakiri · Felipe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391095" y="5989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C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Specialisterne + Salesforce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Equipe HelpSystem</dc:creator>
  <cp:lastModifiedBy>Equipe HelpSystem</cp:lastModifiedBy>
  <cp:revision>1</cp:revision>
  <dcterms:created xsi:type="dcterms:W3CDTF">2026-08-06T14:59:35Z</dcterms:created>
  <dcterms:modified xsi:type="dcterms:W3CDTF">2026-08-06T14:59:35Z</dcterms:modified>
</cp:coreProperties>
</file>